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Play"/>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lay-regular.fntdata"/><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font" Target="fonts/Play-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b6c4e6d75_2_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eb6c4e6d75_2_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problem: food safety data exists, but consumers usually cannot access it at the moment of purchase. This project makes that information portable through QR codes, a standardized JSON structure, and an API view for different users.</a:t>
            </a:r>
            <a:endParaRPr/>
          </a:p>
        </p:txBody>
      </p:sp>
      <p:sp>
        <p:nvSpPr>
          <p:cNvPr id="60" name="Google Shape;60;g3eb6c4e6d75_2_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b6c4e6d75_2_3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g3eb6c4e6d75_2_3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frames the core deficiency: existing information is technically available in pieces, but it is not structured for fast reuse at the point where consumers, retailers, or inspectors need a decision.</a:t>
            </a:r>
            <a:endParaRPr/>
          </a:p>
        </p:txBody>
      </p:sp>
      <p:sp>
        <p:nvSpPr>
          <p:cNvPr id="84" name="Google Shape;84;g3eb6c4e6d75_2_3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b6c4e6d75_2_4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3eb6c4e6d75_2_4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key design decision is not to build three different systems. It is to build one portable underlying structure with different access views. The consumer view hides backend audit details, while supplier and regulator views include more operational context.</a:t>
            </a:r>
            <a:endParaRPr/>
          </a:p>
        </p:txBody>
      </p:sp>
      <p:sp>
        <p:nvSpPr>
          <p:cNvPr id="101" name="Google Shape;101;g3eb6c4e6d75_2_4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b6c4e6d75_2_7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g3eb6c4e6d75_2_7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connects to the course requirement: create a new information product by extracting, transforming, and restructuring existing information into a more portable structure. The prototype uses GS1 Digital Link as the identity layer, openFDA as a public recall source, and supplier or inspection records as operational sources.</a:t>
            </a:r>
            <a:endParaRPr/>
          </a:p>
        </p:txBody>
      </p:sp>
      <p:sp>
        <p:nvSpPr>
          <p:cNvPr id="130" name="Google Shape;130;g3eb6c4e6d75_2_7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b6c4e6d75_2_10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eb6c4e6d75_2_10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Use this as a concise FAIR slide. The message is balanced: the current sources are not useless, but they are not integrated enough for the product story. The improvement is the new structure and access layer.</a:t>
            </a:r>
            <a:endParaRPr/>
          </a:p>
        </p:txBody>
      </p:sp>
      <p:sp>
        <p:nvSpPr>
          <p:cNvPr id="157" name="Google Shape;157;g3eb6c4e6d75_2_10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b6c4e6d75_2_14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eb6c4e6d75_2_14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explains how the project moved from assessment to redesign. The main point is that portability is not just about using JSON. It is about building a structure that handles multiple sources, update frequencies, and access needs.</a:t>
            </a:r>
            <a:endParaRPr/>
          </a:p>
        </p:txBody>
      </p:sp>
      <p:sp>
        <p:nvSpPr>
          <p:cNvPr id="201" name="Google Shape;201;g3eb6c4e6d75_2_14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b6c4e6d75_2_17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eb6c4e6d75_2_17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core artifact of the project. Emphasize that the schema is designed for portability: clear field groups, stable identifiers, dynamic safety data, and separate access views.</a:t>
            </a:r>
            <a:endParaRPr/>
          </a:p>
        </p:txBody>
      </p:sp>
      <p:sp>
        <p:nvSpPr>
          <p:cNvPr id="225" name="Google Shape;225;g3eb6c4e6d75_2_17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b6c4e6d75_2_19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eb6c4e6d75_2_19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Walk through the scan flow quickly. The physical item links to a structured record; the API returns the right access view; quality checks and recall sync jobs keep the record current.</a:t>
            </a:r>
            <a:endParaRPr/>
          </a:p>
        </p:txBody>
      </p:sp>
      <p:sp>
        <p:nvSpPr>
          <p:cNvPr id="251" name="Google Shape;251;g3eb6c4e6d75_2_19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b6c4e6d75_2_23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eb6c4e6d75_2_23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maps directly to the final requirement about controlling quality, performance, and security. The test plan covers functional correctness, performance, alarms, and response actions.</a:t>
            </a:r>
            <a:endParaRPr/>
          </a:p>
        </p:txBody>
      </p:sp>
      <p:sp>
        <p:nvSpPr>
          <p:cNvPr id="289" name="Google Shape;289;g3eb6c4e6d75_2_23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b6c4e6d75_2_26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3eb6c4e6d75_2_26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End with the course language: a new information product that restructures existing information to become more portable and useful. Then point to GitHub deliverables.</a:t>
            </a:r>
            <a:endParaRPr/>
          </a:p>
        </p:txBody>
      </p:sp>
      <p:sp>
        <p:nvSpPr>
          <p:cNvPr id="316" name="Google Shape;316;g3eb6c4e6d75_2_26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AF7"/>
        </a:solidFill>
      </p:bgPr>
    </p:bg>
    <p:spTree>
      <p:nvGrpSpPr>
        <p:cNvPr id="52" name="Shape 52"/>
        <p:cNvGrpSpPr/>
        <p:nvPr/>
      </p:nvGrpSpPr>
      <p:grpSpPr>
        <a:xfrm>
          <a:off x="0" y="0"/>
          <a:ext cx="0" cy="0"/>
          <a:chOff x="0" y="0"/>
          <a:chExt cx="0" cy="0"/>
        </a:xfrm>
      </p:grpSpPr>
      <p:cxnSp>
        <p:nvCxnSpPr>
          <p:cNvPr id="53" name="Google Shape;53;p14"/>
          <p:cNvCxnSpPr/>
          <p:nvPr/>
        </p:nvCxnSpPr>
        <p:spPr>
          <a:xfrm>
            <a:off x="377200" y="4855464"/>
            <a:ext cx="8401274" cy="0"/>
          </a:xfrm>
          <a:prstGeom prst="straightConnector1">
            <a:avLst/>
          </a:prstGeom>
          <a:noFill/>
          <a:ln cap="flat" cmpd="sng" w="12700">
            <a:solidFill>
              <a:srgbClr val="D5E4D7"/>
            </a:solidFill>
            <a:prstDash val="solid"/>
            <a:round/>
            <a:headEnd len="sm" w="sm" type="none"/>
            <a:tailEnd len="sm" w="sm" type="none"/>
          </a:ln>
        </p:spPr>
      </p:cxnSp>
      <p:sp>
        <p:nvSpPr>
          <p:cNvPr id="54" name="Google Shape;54;p14"/>
          <p:cNvSpPr/>
          <p:nvPr/>
        </p:nvSpPr>
        <p:spPr>
          <a:xfrm>
            <a:off x="445782" y="4910328"/>
            <a:ext cx="301760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7A70"/>
              </a:buClr>
              <a:buSzPts val="600"/>
              <a:buFont typeface="Arial"/>
              <a:buNone/>
            </a:pPr>
            <a:r>
              <a:rPr b="0" i="0" lang="en" sz="600" u="none" cap="none" strike="noStrike">
                <a:solidFill>
                  <a:srgbClr val="6A7A70"/>
                </a:solidFill>
                <a:latin typeface="Arial"/>
                <a:ea typeface="Arial"/>
                <a:cs typeface="Arial"/>
                <a:sym typeface="Arial"/>
              </a:rPr>
              <a:t>IMT542 Portable Information Structures</a:t>
            </a:r>
            <a:endParaRPr b="0" i="0" sz="600" u="none" cap="none" strike="noStrike">
              <a:solidFill>
                <a:schemeClr val="dk1"/>
              </a:solidFill>
              <a:latin typeface="Arial"/>
              <a:ea typeface="Arial"/>
              <a:cs typeface="Arial"/>
              <a:sym typeface="Arial"/>
            </a:endParaRPr>
          </a:p>
        </p:txBody>
      </p:sp>
      <p:sp>
        <p:nvSpPr>
          <p:cNvPr id="55" name="Google Shape;55;p14"/>
          <p:cNvSpPr txBox="1"/>
          <p:nvPr>
            <p:ph idx="12"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lvl1pPr indent="0" lvl="0" marL="0" marR="0" algn="l">
              <a:spcBef>
                <a:spcPts val="0"/>
              </a:spcBef>
              <a:buNone/>
              <a:defRPr b="0" i="0" sz="600" u="none" cap="none" strike="noStrike">
                <a:solidFill>
                  <a:srgbClr val="6A7A70"/>
                </a:solidFill>
                <a:latin typeface="Arial"/>
                <a:ea typeface="Arial"/>
                <a:cs typeface="Arial"/>
                <a:sym typeface="Arial"/>
              </a:defRPr>
            </a:lvl1pPr>
            <a:lvl2pPr indent="0" lvl="1" marL="0" marR="0" algn="l">
              <a:spcBef>
                <a:spcPts val="0"/>
              </a:spcBef>
              <a:buNone/>
              <a:defRPr b="0" i="0" sz="600" u="none" cap="none" strike="noStrike">
                <a:solidFill>
                  <a:srgbClr val="6A7A70"/>
                </a:solidFill>
                <a:latin typeface="Arial"/>
                <a:ea typeface="Arial"/>
                <a:cs typeface="Arial"/>
                <a:sym typeface="Arial"/>
              </a:defRPr>
            </a:lvl2pPr>
            <a:lvl3pPr indent="0" lvl="2" marL="0" marR="0" algn="l">
              <a:spcBef>
                <a:spcPts val="0"/>
              </a:spcBef>
              <a:buNone/>
              <a:defRPr b="0" i="0" sz="600" u="none" cap="none" strike="noStrike">
                <a:solidFill>
                  <a:srgbClr val="6A7A70"/>
                </a:solidFill>
                <a:latin typeface="Arial"/>
                <a:ea typeface="Arial"/>
                <a:cs typeface="Arial"/>
                <a:sym typeface="Arial"/>
              </a:defRPr>
            </a:lvl3pPr>
            <a:lvl4pPr indent="0" lvl="3" marL="0" marR="0" algn="l">
              <a:spcBef>
                <a:spcPts val="0"/>
              </a:spcBef>
              <a:buNone/>
              <a:defRPr b="0" i="0" sz="600" u="none" cap="none" strike="noStrike">
                <a:solidFill>
                  <a:srgbClr val="6A7A70"/>
                </a:solidFill>
                <a:latin typeface="Arial"/>
                <a:ea typeface="Arial"/>
                <a:cs typeface="Arial"/>
                <a:sym typeface="Arial"/>
              </a:defRPr>
            </a:lvl4pPr>
            <a:lvl5pPr indent="0" lvl="4" marL="0" marR="0" algn="l">
              <a:spcBef>
                <a:spcPts val="0"/>
              </a:spcBef>
              <a:buNone/>
              <a:defRPr b="0" i="0" sz="600" u="none" cap="none" strike="noStrike">
                <a:solidFill>
                  <a:srgbClr val="6A7A70"/>
                </a:solidFill>
                <a:latin typeface="Arial"/>
                <a:ea typeface="Arial"/>
                <a:cs typeface="Arial"/>
                <a:sym typeface="Arial"/>
              </a:defRPr>
            </a:lvl5pPr>
            <a:lvl6pPr indent="0" lvl="5" marL="0" marR="0" algn="l">
              <a:spcBef>
                <a:spcPts val="0"/>
              </a:spcBef>
              <a:buNone/>
              <a:defRPr b="0" i="0" sz="600" u="none" cap="none" strike="noStrike">
                <a:solidFill>
                  <a:srgbClr val="6A7A70"/>
                </a:solidFill>
                <a:latin typeface="Arial"/>
                <a:ea typeface="Arial"/>
                <a:cs typeface="Arial"/>
                <a:sym typeface="Arial"/>
              </a:defRPr>
            </a:lvl6pPr>
            <a:lvl7pPr indent="0" lvl="6" marL="0" marR="0" algn="l">
              <a:spcBef>
                <a:spcPts val="0"/>
              </a:spcBef>
              <a:buNone/>
              <a:defRPr b="0" i="0" sz="600" u="none" cap="none" strike="noStrike">
                <a:solidFill>
                  <a:srgbClr val="6A7A70"/>
                </a:solidFill>
                <a:latin typeface="Arial"/>
                <a:ea typeface="Arial"/>
                <a:cs typeface="Arial"/>
                <a:sym typeface="Arial"/>
              </a:defRPr>
            </a:lvl7pPr>
            <a:lvl8pPr indent="0" lvl="7" marL="0" marR="0" algn="l">
              <a:spcBef>
                <a:spcPts val="0"/>
              </a:spcBef>
              <a:buNone/>
              <a:defRPr b="0" i="0" sz="600" u="none" cap="none" strike="noStrike">
                <a:solidFill>
                  <a:srgbClr val="6A7A70"/>
                </a:solidFill>
                <a:latin typeface="Arial"/>
                <a:ea typeface="Arial"/>
                <a:cs typeface="Arial"/>
                <a:sym typeface="Arial"/>
              </a:defRPr>
            </a:lvl8pPr>
            <a:lvl9pPr indent="0" lvl="8" marL="0" marR="0" algn="l">
              <a:spcBef>
                <a:spcPts val="0"/>
              </a:spcBef>
              <a:buNone/>
              <a:defRPr b="0" i="0" sz="600" u="none" cap="none" strike="noStrike">
                <a:solidFill>
                  <a:srgbClr val="6A7A7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None/>
              <a:defRPr b="0" i="0" sz="600" u="none" cap="none" strike="noStrike">
                <a:solidFill>
                  <a:srgbClr val="6A7A70"/>
                </a:solidFill>
                <a:latin typeface="Arial"/>
                <a:ea typeface="Arial"/>
                <a:cs typeface="Arial"/>
                <a:sym typeface="Arial"/>
              </a:defRPr>
            </a:lvl1pPr>
            <a:lvl2pPr indent="0" lvl="1" marL="0" marR="0" rtl="0" algn="l">
              <a:spcBef>
                <a:spcPts val="0"/>
              </a:spcBef>
              <a:buNone/>
              <a:defRPr b="0" i="0" sz="600" u="none" cap="none" strike="noStrike">
                <a:solidFill>
                  <a:srgbClr val="6A7A70"/>
                </a:solidFill>
                <a:latin typeface="Arial"/>
                <a:ea typeface="Arial"/>
                <a:cs typeface="Arial"/>
                <a:sym typeface="Arial"/>
              </a:defRPr>
            </a:lvl2pPr>
            <a:lvl3pPr indent="0" lvl="2" marL="0" marR="0" rtl="0" algn="l">
              <a:spcBef>
                <a:spcPts val="0"/>
              </a:spcBef>
              <a:buNone/>
              <a:defRPr b="0" i="0" sz="600" u="none" cap="none" strike="noStrike">
                <a:solidFill>
                  <a:srgbClr val="6A7A70"/>
                </a:solidFill>
                <a:latin typeface="Arial"/>
                <a:ea typeface="Arial"/>
                <a:cs typeface="Arial"/>
                <a:sym typeface="Arial"/>
              </a:defRPr>
            </a:lvl3pPr>
            <a:lvl4pPr indent="0" lvl="3" marL="0" marR="0" rtl="0" algn="l">
              <a:spcBef>
                <a:spcPts val="0"/>
              </a:spcBef>
              <a:buNone/>
              <a:defRPr b="0" i="0" sz="600" u="none" cap="none" strike="noStrike">
                <a:solidFill>
                  <a:srgbClr val="6A7A70"/>
                </a:solidFill>
                <a:latin typeface="Arial"/>
                <a:ea typeface="Arial"/>
                <a:cs typeface="Arial"/>
                <a:sym typeface="Arial"/>
              </a:defRPr>
            </a:lvl4pPr>
            <a:lvl5pPr indent="0" lvl="4" marL="0" marR="0" rtl="0" algn="l">
              <a:spcBef>
                <a:spcPts val="0"/>
              </a:spcBef>
              <a:buNone/>
              <a:defRPr b="0" i="0" sz="600" u="none" cap="none" strike="noStrike">
                <a:solidFill>
                  <a:srgbClr val="6A7A70"/>
                </a:solidFill>
                <a:latin typeface="Arial"/>
                <a:ea typeface="Arial"/>
                <a:cs typeface="Arial"/>
                <a:sym typeface="Arial"/>
              </a:defRPr>
            </a:lvl5pPr>
            <a:lvl6pPr indent="0" lvl="5" marL="0" marR="0" rtl="0" algn="l">
              <a:spcBef>
                <a:spcPts val="0"/>
              </a:spcBef>
              <a:buNone/>
              <a:defRPr b="0" i="0" sz="600" u="none" cap="none" strike="noStrike">
                <a:solidFill>
                  <a:srgbClr val="6A7A70"/>
                </a:solidFill>
                <a:latin typeface="Arial"/>
                <a:ea typeface="Arial"/>
                <a:cs typeface="Arial"/>
                <a:sym typeface="Arial"/>
              </a:defRPr>
            </a:lvl6pPr>
            <a:lvl7pPr indent="0" lvl="6" marL="0" marR="0" rtl="0" algn="l">
              <a:spcBef>
                <a:spcPts val="0"/>
              </a:spcBef>
              <a:buNone/>
              <a:defRPr b="0" i="0" sz="600" u="none" cap="none" strike="noStrike">
                <a:solidFill>
                  <a:srgbClr val="6A7A70"/>
                </a:solidFill>
                <a:latin typeface="Arial"/>
                <a:ea typeface="Arial"/>
                <a:cs typeface="Arial"/>
                <a:sym typeface="Arial"/>
              </a:defRPr>
            </a:lvl7pPr>
            <a:lvl8pPr indent="0" lvl="7" marL="0" marR="0" rtl="0" algn="l">
              <a:spcBef>
                <a:spcPts val="0"/>
              </a:spcBef>
              <a:buNone/>
              <a:defRPr b="0" i="0" sz="600" u="none" cap="none" strike="noStrike">
                <a:solidFill>
                  <a:srgbClr val="6A7A70"/>
                </a:solidFill>
                <a:latin typeface="Arial"/>
                <a:ea typeface="Arial"/>
                <a:cs typeface="Arial"/>
                <a:sym typeface="Arial"/>
              </a:defRPr>
            </a:lvl8pPr>
            <a:lvl9pPr indent="0" lvl="8" marL="0" marR="0" rtl="0" algn="l">
              <a:spcBef>
                <a:spcPts val="0"/>
              </a:spcBef>
              <a:buNone/>
              <a:defRPr b="0" i="0" sz="600" u="none" cap="none" strike="noStrike">
                <a:solidFill>
                  <a:srgbClr val="6A7A7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7"/>
        </a:solidFill>
      </p:bgPr>
    </p:bg>
    <p:spTree>
      <p:nvGrpSpPr>
        <p:cNvPr id="61" name="Shape 61"/>
        <p:cNvGrpSpPr/>
        <p:nvPr/>
      </p:nvGrpSpPr>
      <p:grpSpPr>
        <a:xfrm>
          <a:off x="0" y="0"/>
          <a:ext cx="0" cy="0"/>
          <a:chOff x="0" y="0"/>
          <a:chExt cx="0" cy="0"/>
        </a:xfrm>
      </p:grpSpPr>
      <p:sp>
        <p:nvSpPr>
          <p:cNvPr id="62" name="Google Shape;62;p16"/>
          <p:cNvSpPr/>
          <p:nvPr/>
        </p:nvSpPr>
        <p:spPr>
          <a:xfrm>
            <a:off x="5658001" y="493776"/>
            <a:ext cx="2434655" cy="3826764"/>
          </a:xfrm>
          <a:prstGeom prst="roundRect">
            <a:avLst>
              <a:gd fmla="val 4225" name="adj"/>
            </a:avLst>
          </a:prstGeom>
          <a:solidFill>
            <a:srgbClr val="E9F7ED"/>
          </a:solidFill>
          <a:ln cap="flat" cmpd="sng" w="12700">
            <a:solidFill>
              <a:srgbClr val="E9F7E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16"/>
          <p:cNvSpPr/>
          <p:nvPr/>
        </p:nvSpPr>
        <p:spPr>
          <a:xfrm>
            <a:off x="514364" y="809244"/>
            <a:ext cx="4594982" cy="9944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2900"/>
              <a:buFont typeface="Play"/>
              <a:buNone/>
            </a:pPr>
            <a:r>
              <a:rPr b="1" i="0" lang="en" sz="2900" u="none" cap="none" strike="noStrike">
                <a:solidFill>
                  <a:srgbClr val="173B2F"/>
                </a:solidFill>
                <a:latin typeface="Play"/>
                <a:ea typeface="Play"/>
                <a:cs typeface="Play"/>
                <a:sym typeface="Play"/>
              </a:rPr>
              <a:t>QR-Code Food Safety</a:t>
            </a:r>
            <a:endParaRPr b="0" i="0" sz="2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73B2F"/>
              </a:buClr>
              <a:buSzPts val="2900"/>
              <a:buFont typeface="Play"/>
              <a:buNone/>
            </a:pPr>
            <a:r>
              <a:rPr b="1" i="0" lang="en" sz="2900" u="none" cap="none" strike="noStrike">
                <a:solidFill>
                  <a:srgbClr val="173B2F"/>
                </a:solidFill>
                <a:latin typeface="Play"/>
                <a:ea typeface="Play"/>
                <a:cs typeface="Play"/>
                <a:sym typeface="Play"/>
              </a:rPr>
              <a:t>Inspector API</a:t>
            </a:r>
            <a:endParaRPr b="0" i="0" sz="2900" u="none" cap="none" strike="noStrike">
              <a:solidFill>
                <a:schemeClr val="dk1"/>
              </a:solidFill>
              <a:latin typeface="Arial"/>
              <a:ea typeface="Arial"/>
              <a:cs typeface="Arial"/>
              <a:sym typeface="Arial"/>
            </a:endParaRPr>
          </a:p>
        </p:txBody>
      </p:sp>
      <p:sp>
        <p:nvSpPr>
          <p:cNvPr id="64" name="Google Shape;64;p16"/>
          <p:cNvSpPr/>
          <p:nvPr/>
        </p:nvSpPr>
        <p:spPr>
          <a:xfrm>
            <a:off x="548655" y="1988820"/>
            <a:ext cx="4389237"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1100"/>
              <a:buFont typeface="Arial"/>
              <a:buNone/>
            </a:pPr>
            <a:r>
              <a:rPr b="0" i="0" lang="en" sz="1100" u="none" cap="none" strike="noStrike">
                <a:solidFill>
                  <a:srgbClr val="5F6B63"/>
                </a:solidFill>
                <a:latin typeface="Arial"/>
                <a:ea typeface="Arial"/>
                <a:cs typeface="Arial"/>
                <a:sym typeface="Arial"/>
              </a:rPr>
              <a:t>A portable information structure that turns fragmented food safety records into scan-ready consumer, supplier, and regulator insight.</a:t>
            </a:r>
            <a:endParaRPr b="0" i="0" sz="1100" u="none" cap="none" strike="noStrike">
              <a:solidFill>
                <a:schemeClr val="dk1"/>
              </a:solidFill>
              <a:latin typeface="Arial"/>
              <a:ea typeface="Arial"/>
              <a:cs typeface="Arial"/>
              <a:sym typeface="Arial"/>
            </a:endParaRPr>
          </a:p>
        </p:txBody>
      </p:sp>
      <p:sp>
        <p:nvSpPr>
          <p:cNvPr id="65" name="Google Shape;65;p16"/>
          <p:cNvSpPr/>
          <p:nvPr/>
        </p:nvSpPr>
        <p:spPr>
          <a:xfrm>
            <a:off x="548655" y="2571750"/>
            <a:ext cx="1371637" cy="219456"/>
          </a:xfrm>
          <a:prstGeom prst="roundRect">
            <a:avLst>
              <a:gd fmla="val 25000" name="adj"/>
            </a:avLst>
          </a:prstGeom>
          <a:solidFill>
            <a:srgbClr val="1F7A4D"/>
          </a:solidFill>
          <a:ln cap="flat" cmpd="sng" w="1270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 name="Google Shape;66;p16"/>
          <p:cNvSpPr/>
          <p:nvPr/>
        </p:nvSpPr>
        <p:spPr>
          <a:xfrm>
            <a:off x="603520" y="2623185"/>
            <a:ext cx="1261906"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 sz="600" u="none" cap="none" strike="noStrike">
                <a:solidFill>
                  <a:srgbClr val="FFFFFF"/>
                </a:solidFill>
                <a:latin typeface="Arial"/>
                <a:ea typeface="Arial"/>
                <a:cs typeface="Arial"/>
                <a:sym typeface="Arial"/>
              </a:rPr>
              <a:t>Portable information product</a:t>
            </a:r>
            <a:endParaRPr b="0" i="0" sz="600" u="none" cap="none" strike="noStrike">
              <a:solidFill>
                <a:schemeClr val="dk1"/>
              </a:solidFill>
              <a:latin typeface="Arial"/>
              <a:ea typeface="Arial"/>
              <a:cs typeface="Arial"/>
              <a:sym typeface="Arial"/>
            </a:endParaRPr>
          </a:p>
        </p:txBody>
      </p:sp>
      <p:sp>
        <p:nvSpPr>
          <p:cNvPr id="67" name="Google Shape;67;p16"/>
          <p:cNvSpPr/>
          <p:nvPr/>
        </p:nvSpPr>
        <p:spPr>
          <a:xfrm>
            <a:off x="2057455" y="2571750"/>
            <a:ext cx="1405927" cy="219456"/>
          </a:xfrm>
          <a:prstGeom prst="roundRect">
            <a:avLst>
              <a:gd fmla="val 25000" name="adj"/>
            </a:avLst>
          </a:prstGeom>
          <a:solidFill>
            <a:srgbClr val="3B6FB6"/>
          </a:solidFill>
          <a:ln cap="flat" cmpd="sng" w="12700">
            <a:solidFill>
              <a:srgbClr val="3B6FB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 name="Google Shape;68;p16"/>
          <p:cNvSpPr/>
          <p:nvPr/>
        </p:nvSpPr>
        <p:spPr>
          <a:xfrm>
            <a:off x="2112320" y="2623185"/>
            <a:ext cx="1296197"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 sz="600" u="none" cap="none" strike="noStrike">
                <a:solidFill>
                  <a:srgbClr val="FFFFFF"/>
                </a:solidFill>
                <a:latin typeface="Arial"/>
                <a:ea typeface="Arial"/>
                <a:cs typeface="Arial"/>
                <a:sym typeface="Arial"/>
              </a:rPr>
              <a:t>Food safety + traceability</a:t>
            </a:r>
            <a:endParaRPr b="0" i="0" sz="600" u="none" cap="none" strike="noStrike">
              <a:solidFill>
                <a:schemeClr val="dk1"/>
              </a:solidFill>
              <a:latin typeface="Arial"/>
              <a:ea typeface="Arial"/>
              <a:cs typeface="Arial"/>
              <a:sym typeface="Arial"/>
            </a:endParaRPr>
          </a:p>
        </p:txBody>
      </p:sp>
      <p:sp>
        <p:nvSpPr>
          <p:cNvPr id="69" name="Google Shape;69;p16"/>
          <p:cNvSpPr/>
          <p:nvPr/>
        </p:nvSpPr>
        <p:spPr>
          <a:xfrm>
            <a:off x="3600546" y="2571750"/>
            <a:ext cx="1165891" cy="219456"/>
          </a:xfrm>
          <a:prstGeom prst="roundRect">
            <a:avLst>
              <a:gd fmla="val 25000" name="adj"/>
            </a:avLst>
          </a:prstGeom>
          <a:solidFill>
            <a:srgbClr val="E28B3B"/>
          </a:solidFill>
          <a:ln cap="flat" cmpd="sng" w="12700">
            <a:solidFill>
              <a:srgbClr val="E28B3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16"/>
          <p:cNvSpPr/>
          <p:nvPr/>
        </p:nvSpPr>
        <p:spPr>
          <a:xfrm>
            <a:off x="3655411" y="2623185"/>
            <a:ext cx="105616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 sz="600" u="none" cap="none" strike="noStrike">
                <a:solidFill>
                  <a:srgbClr val="FFFFFF"/>
                </a:solidFill>
                <a:latin typeface="Arial"/>
                <a:ea typeface="Arial"/>
                <a:cs typeface="Arial"/>
                <a:sym typeface="Arial"/>
              </a:rPr>
              <a:t>JSON API prototype</a:t>
            </a:r>
            <a:endParaRPr b="0" i="0" sz="600" u="none" cap="none" strike="noStrike">
              <a:solidFill>
                <a:schemeClr val="dk1"/>
              </a:solidFill>
              <a:latin typeface="Arial"/>
              <a:ea typeface="Arial"/>
              <a:cs typeface="Arial"/>
              <a:sym typeface="Arial"/>
            </a:endParaRPr>
          </a:p>
        </p:txBody>
      </p:sp>
      <p:sp>
        <p:nvSpPr>
          <p:cNvPr id="71" name="Google Shape;71;p16"/>
          <p:cNvSpPr/>
          <p:nvPr/>
        </p:nvSpPr>
        <p:spPr>
          <a:xfrm>
            <a:off x="6069492" y="720090"/>
            <a:ext cx="1783128" cy="3429000"/>
          </a:xfrm>
          <a:prstGeom prst="roundRect">
            <a:avLst>
              <a:gd fmla="val 6923" name="adj"/>
            </a:avLst>
          </a:prstGeom>
          <a:solidFill>
            <a:srgbClr val="FFFFFF"/>
          </a:solidFill>
          <a:ln cap="flat" cmpd="sng" w="19050">
            <a:solidFill>
              <a:srgbClr val="C9DCD0"/>
            </a:solidFill>
            <a:prstDash val="solid"/>
            <a:round/>
            <a:headEnd len="sm" w="sm" type="none"/>
            <a:tailEnd len="sm" w="sm" type="none"/>
          </a:ln>
          <a:effectLst>
            <a:outerShdw blurRad="25400" rotWithShape="0" algn="bl" dir="2700000" dist="50800">
              <a:srgbClr val="9CAD9F">
                <a:alpha val="180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 name="Google Shape;72;p16"/>
          <p:cNvSpPr/>
          <p:nvPr/>
        </p:nvSpPr>
        <p:spPr>
          <a:xfrm>
            <a:off x="6254663" y="939546"/>
            <a:ext cx="1419644" cy="994410"/>
          </a:xfrm>
          <a:prstGeom prst="roundRect">
            <a:avLst>
              <a:gd fmla="val 5517" name="adj"/>
            </a:avLst>
          </a:prstGeom>
          <a:solidFill>
            <a:srgbClr val="ECF8EF"/>
          </a:solidFill>
          <a:ln cap="flat" cmpd="sng" w="12700">
            <a:solidFill>
              <a:srgbClr val="ECF8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6"/>
          <p:cNvSpPr/>
          <p:nvPr/>
        </p:nvSpPr>
        <p:spPr>
          <a:xfrm>
            <a:off x="6343819" y="1145286"/>
            <a:ext cx="1234473"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7A4D"/>
              </a:buClr>
              <a:buSzPts val="1200"/>
              <a:buFont typeface="Arial"/>
              <a:buNone/>
            </a:pPr>
            <a:r>
              <a:rPr b="1" i="0" lang="en" sz="1200" u="none" cap="none" strike="noStrike">
                <a:solidFill>
                  <a:srgbClr val="1F7A4D"/>
                </a:solidFill>
                <a:latin typeface="Arial"/>
                <a:ea typeface="Arial"/>
                <a:cs typeface="Arial"/>
                <a:sym typeface="Arial"/>
              </a:rPr>
              <a:t>SCAN</a:t>
            </a:r>
            <a:endParaRPr b="0" i="0" sz="1200" u="none" cap="none" strike="noStrike">
              <a:solidFill>
                <a:schemeClr val="dk1"/>
              </a:solidFill>
              <a:latin typeface="Arial"/>
              <a:ea typeface="Arial"/>
              <a:cs typeface="Arial"/>
              <a:sym typeface="Arial"/>
            </a:endParaRPr>
          </a:p>
        </p:txBody>
      </p:sp>
      <p:cxnSp>
        <p:nvCxnSpPr>
          <p:cNvPr id="74" name="Google Shape;74;p16"/>
          <p:cNvCxnSpPr/>
          <p:nvPr/>
        </p:nvCxnSpPr>
        <p:spPr>
          <a:xfrm>
            <a:off x="6549565" y="1405890"/>
            <a:ext cx="480073" cy="0"/>
          </a:xfrm>
          <a:prstGeom prst="straightConnector1">
            <a:avLst/>
          </a:prstGeom>
          <a:noFill/>
          <a:ln cap="flat" cmpd="sng" w="38100">
            <a:solidFill>
              <a:srgbClr val="1F7A4D"/>
            </a:solidFill>
            <a:prstDash val="solid"/>
            <a:round/>
            <a:headEnd len="sm" w="sm" type="none"/>
            <a:tailEnd len="sm" w="sm" type="none"/>
          </a:ln>
        </p:spPr>
      </p:cxnSp>
      <p:sp>
        <p:nvSpPr>
          <p:cNvPr id="75" name="Google Shape;75;p16"/>
          <p:cNvSpPr/>
          <p:nvPr/>
        </p:nvSpPr>
        <p:spPr>
          <a:xfrm>
            <a:off x="6295812" y="2139696"/>
            <a:ext cx="1303055" cy="1714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2F"/>
              </a:buClr>
              <a:buSzPts val="1000"/>
              <a:buFont typeface="Arial"/>
              <a:buNone/>
            </a:pPr>
            <a:r>
              <a:rPr b="1" i="0" lang="en" sz="1000" u="none" cap="none" strike="noStrike">
                <a:solidFill>
                  <a:srgbClr val="173B2F"/>
                </a:solidFill>
                <a:latin typeface="Arial"/>
                <a:ea typeface="Arial"/>
                <a:cs typeface="Arial"/>
                <a:sym typeface="Arial"/>
              </a:rPr>
              <a:t>Safety status</a:t>
            </a:r>
            <a:endParaRPr b="0" i="0" sz="1000" u="none" cap="none" strike="noStrike">
              <a:solidFill>
                <a:schemeClr val="dk1"/>
              </a:solidFill>
              <a:latin typeface="Arial"/>
              <a:ea typeface="Arial"/>
              <a:cs typeface="Arial"/>
              <a:sym typeface="Arial"/>
            </a:endParaRPr>
          </a:p>
        </p:txBody>
      </p:sp>
      <p:sp>
        <p:nvSpPr>
          <p:cNvPr id="76" name="Google Shape;76;p16"/>
          <p:cNvSpPr/>
          <p:nvPr/>
        </p:nvSpPr>
        <p:spPr>
          <a:xfrm>
            <a:off x="6343819" y="2434590"/>
            <a:ext cx="1234473" cy="377190"/>
          </a:xfrm>
          <a:prstGeom prst="roundRect">
            <a:avLst>
              <a:gd fmla="val 16364" name="adj"/>
            </a:avLst>
          </a:prstGeom>
          <a:solidFill>
            <a:srgbClr val="1F7A4D"/>
          </a:solidFill>
          <a:ln cap="flat" cmpd="sng" w="1270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6"/>
          <p:cNvSpPr/>
          <p:nvPr/>
        </p:nvSpPr>
        <p:spPr>
          <a:xfrm>
            <a:off x="6412401" y="2551176"/>
            <a:ext cx="1097309"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 sz="800" u="none" cap="none" strike="noStrike">
                <a:solidFill>
                  <a:srgbClr val="FFFFFF"/>
                </a:solidFill>
                <a:latin typeface="Arial"/>
                <a:ea typeface="Arial"/>
                <a:cs typeface="Arial"/>
                <a:sym typeface="Arial"/>
              </a:rPr>
              <a:t>LOW RISK</a:t>
            </a:r>
            <a:endParaRPr b="0" i="0" sz="800" u="none" cap="none" strike="noStrike">
              <a:solidFill>
                <a:schemeClr val="dk1"/>
              </a:solidFill>
              <a:latin typeface="Arial"/>
              <a:ea typeface="Arial"/>
              <a:cs typeface="Arial"/>
              <a:sym typeface="Arial"/>
            </a:endParaRPr>
          </a:p>
        </p:txBody>
      </p:sp>
      <p:sp>
        <p:nvSpPr>
          <p:cNvPr id="78" name="Google Shape;78;p16"/>
          <p:cNvSpPr/>
          <p:nvPr/>
        </p:nvSpPr>
        <p:spPr>
          <a:xfrm>
            <a:off x="6309528" y="3003804"/>
            <a:ext cx="1303055"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63"/>
              </a:buClr>
              <a:buSzPts val="600"/>
              <a:buFont typeface="Arial"/>
              <a:buNone/>
            </a:pPr>
            <a:r>
              <a:rPr b="0" i="0" lang="en" sz="600" u="none" cap="none" strike="noStrike">
                <a:solidFill>
                  <a:srgbClr val="5F6B63"/>
                </a:solidFill>
                <a:latin typeface="Arial"/>
                <a:ea typeface="Arial"/>
                <a:cs typeface="Arial"/>
                <a:sym typeface="Arial"/>
              </a:rPr>
              <a:t>Batch checked against recall and inspection data</a:t>
            </a:r>
            <a:endParaRPr b="0" i="0" sz="600" u="none" cap="none" strike="noStrike">
              <a:solidFill>
                <a:schemeClr val="dk1"/>
              </a:solidFill>
              <a:latin typeface="Arial"/>
              <a:ea typeface="Arial"/>
              <a:cs typeface="Arial"/>
              <a:sym typeface="Arial"/>
            </a:endParaRPr>
          </a:p>
        </p:txBody>
      </p:sp>
      <p:sp>
        <p:nvSpPr>
          <p:cNvPr id="79" name="Google Shape;79;p16"/>
          <p:cNvSpPr/>
          <p:nvPr/>
        </p:nvSpPr>
        <p:spPr>
          <a:xfrm>
            <a:off x="548655" y="4251960"/>
            <a:ext cx="3086182"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Jihan Yang</a:t>
            </a:r>
            <a:r>
              <a:rPr lang="en" sz="800">
                <a:solidFill>
                  <a:srgbClr val="173B2F"/>
                </a:solidFill>
              </a:rPr>
              <a:t>, Raymond Xu</a:t>
            </a:r>
            <a:r>
              <a:rPr b="0" i="0" lang="en" sz="800" u="none" cap="none" strike="noStrike">
                <a:solidFill>
                  <a:srgbClr val="173B2F"/>
                </a:solidFill>
                <a:latin typeface="Arial"/>
                <a:ea typeface="Arial"/>
                <a:cs typeface="Arial"/>
                <a:sym typeface="Arial"/>
              </a:rPr>
              <a:t>| IMT542 Final Project</a:t>
            </a:r>
            <a:endParaRPr b="0" i="0" sz="800" u="none" cap="none" strike="noStrike">
              <a:solidFill>
                <a:schemeClr val="dk1"/>
              </a:solidFill>
              <a:latin typeface="Arial"/>
              <a:ea typeface="Arial"/>
              <a:cs typeface="Arial"/>
              <a:sym typeface="Arial"/>
            </a:endParaRPr>
          </a:p>
        </p:txBody>
      </p:sp>
      <p:sp>
        <p:nvSpPr>
          <p:cNvPr id="80" name="Google Shape;80;p16"/>
          <p:cNvSpPr txBox="1"/>
          <p:nvPr>
            <p:ph idx="4294967295"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6A7A70"/>
                </a:solidFill>
                <a:latin typeface="Arial"/>
                <a:ea typeface="Arial"/>
                <a:cs typeface="Arial"/>
                <a:sym typeface="Arial"/>
              </a:rPr>
              <a:t>‹#›</a:t>
            </a:fld>
            <a:endParaRPr b="0" i="0" sz="600" u="none" cap="none" strike="noStrike">
              <a:solidFill>
                <a:srgbClr val="6A7A7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p:nvPr/>
        </p:nvSpPr>
        <p:spPr>
          <a:xfrm>
            <a:off x="480073" y="288036"/>
            <a:ext cx="6240946"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900"/>
              <a:buFont typeface="Play"/>
              <a:buNone/>
            </a:pPr>
            <a:r>
              <a:rPr b="1" i="0" lang="en" sz="1900" u="none" cap="none" strike="noStrike">
                <a:solidFill>
                  <a:srgbClr val="173B2F"/>
                </a:solidFill>
                <a:latin typeface="Play"/>
                <a:ea typeface="Play"/>
                <a:cs typeface="Play"/>
                <a:sym typeface="Play"/>
              </a:rPr>
              <a:t>The information problem</a:t>
            </a:r>
            <a:endParaRPr b="0" i="0" sz="1900" u="none" cap="none" strike="noStrike">
              <a:solidFill>
                <a:schemeClr val="dk1"/>
              </a:solidFill>
              <a:latin typeface="Arial"/>
              <a:ea typeface="Arial"/>
              <a:cs typeface="Arial"/>
              <a:sym typeface="Arial"/>
            </a:endParaRPr>
          </a:p>
        </p:txBody>
      </p:sp>
      <p:sp>
        <p:nvSpPr>
          <p:cNvPr id="87" name="Google Shape;87;p17"/>
          <p:cNvSpPr/>
          <p:nvPr/>
        </p:nvSpPr>
        <p:spPr>
          <a:xfrm>
            <a:off x="493789" y="630936"/>
            <a:ext cx="5760874"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Food safety information exists, but it is not portable at the decision point.</a:t>
            </a:r>
            <a:endParaRPr b="0" i="0" sz="800" u="none" cap="none" strike="noStrike">
              <a:solidFill>
                <a:schemeClr val="dk1"/>
              </a:solidFill>
              <a:latin typeface="Arial"/>
              <a:ea typeface="Arial"/>
              <a:cs typeface="Arial"/>
              <a:sym typeface="Arial"/>
            </a:endParaRPr>
          </a:p>
        </p:txBody>
      </p:sp>
      <p:sp>
        <p:nvSpPr>
          <p:cNvPr id="88" name="Google Shape;88;p17"/>
          <p:cNvSpPr/>
          <p:nvPr/>
        </p:nvSpPr>
        <p:spPr>
          <a:xfrm>
            <a:off x="582946" y="1062990"/>
            <a:ext cx="2743273" cy="2708910"/>
          </a:xfrm>
          <a:prstGeom prst="roundRect">
            <a:avLst>
              <a:gd fmla="val 2532"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7"/>
          <p:cNvSpPr/>
          <p:nvPr/>
        </p:nvSpPr>
        <p:spPr>
          <a:xfrm>
            <a:off x="754400" y="1268730"/>
            <a:ext cx="150880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5045"/>
              </a:buClr>
              <a:buSzPts val="1400"/>
              <a:buFont typeface="Arial"/>
              <a:buNone/>
            </a:pPr>
            <a:r>
              <a:rPr b="1" i="0" lang="en" sz="1400" u="none" cap="none" strike="noStrike">
                <a:solidFill>
                  <a:srgbClr val="C75045"/>
                </a:solidFill>
                <a:latin typeface="Arial"/>
                <a:ea typeface="Arial"/>
                <a:cs typeface="Arial"/>
                <a:sym typeface="Arial"/>
              </a:rPr>
              <a:t>Today</a:t>
            </a:r>
            <a:endParaRPr b="0" i="0" sz="1400" u="none" cap="none" strike="noStrike">
              <a:solidFill>
                <a:schemeClr val="dk1"/>
              </a:solidFill>
              <a:latin typeface="Arial"/>
              <a:ea typeface="Arial"/>
              <a:cs typeface="Arial"/>
              <a:sym typeface="Arial"/>
            </a:endParaRPr>
          </a:p>
        </p:txBody>
      </p:sp>
      <p:sp>
        <p:nvSpPr>
          <p:cNvPr id="90" name="Google Shape;90;p17"/>
          <p:cNvSpPr/>
          <p:nvPr/>
        </p:nvSpPr>
        <p:spPr>
          <a:xfrm>
            <a:off x="754400" y="1611630"/>
            <a:ext cx="2194619"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1100"/>
              <a:buFont typeface="Arial"/>
              <a:buNone/>
            </a:pPr>
            <a:r>
              <a:rPr b="0" i="0" lang="en" sz="1100" u="none" cap="none" strike="noStrike">
                <a:solidFill>
                  <a:srgbClr val="5F6B63"/>
                </a:solidFill>
                <a:latin typeface="Arial"/>
                <a:ea typeface="Arial"/>
                <a:cs typeface="Arial"/>
                <a:sym typeface="Arial"/>
              </a:rPr>
              <a:t>Consumers scan labels, search recall pages, or trust incomplete packaging claims. Suppliers and regulators each hold pieces of the safety story.</a:t>
            </a:r>
            <a:endParaRPr b="0" i="0" sz="1100" u="none" cap="none" strike="noStrike">
              <a:solidFill>
                <a:schemeClr val="dk1"/>
              </a:solidFill>
              <a:latin typeface="Arial"/>
              <a:ea typeface="Arial"/>
              <a:cs typeface="Arial"/>
              <a:sym typeface="Arial"/>
            </a:endParaRPr>
          </a:p>
        </p:txBody>
      </p:sp>
      <p:sp>
        <p:nvSpPr>
          <p:cNvPr id="91" name="Google Shape;91;p17"/>
          <p:cNvSpPr/>
          <p:nvPr/>
        </p:nvSpPr>
        <p:spPr>
          <a:xfrm>
            <a:off x="754400" y="2846070"/>
            <a:ext cx="2263200"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200"/>
              <a:buFont typeface="Arial"/>
              <a:buNone/>
            </a:pPr>
            <a:r>
              <a:rPr b="1" i="0" lang="en" sz="1200" u="none" cap="none" strike="noStrike">
                <a:solidFill>
                  <a:srgbClr val="173B2F"/>
                </a:solidFill>
                <a:latin typeface="Arial"/>
                <a:ea typeface="Arial"/>
                <a:cs typeface="Arial"/>
                <a:sym typeface="Arial"/>
              </a:rPr>
              <a:t>Fragmented sources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73B2F"/>
              </a:buClr>
              <a:buSzPts val="1200"/>
              <a:buFont typeface="Arial"/>
              <a:buNone/>
            </a:pPr>
            <a:r>
              <a:rPr b="1" i="0" lang="en" sz="1200" u="none" cap="none" strike="noStrike">
                <a:solidFill>
                  <a:srgbClr val="173B2F"/>
                </a:solidFill>
                <a:latin typeface="Arial"/>
                <a:ea typeface="Arial"/>
                <a:cs typeface="Arial"/>
                <a:sym typeface="Arial"/>
              </a:rPr>
              <a:t>Uneven formats</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73B2F"/>
              </a:buClr>
              <a:buSzPts val="1200"/>
              <a:buFont typeface="Arial"/>
              <a:buNone/>
            </a:pPr>
            <a:r>
              <a:rPr b="1" i="0" lang="en" sz="1200" u="none" cap="none" strike="noStrike">
                <a:solidFill>
                  <a:srgbClr val="173B2F"/>
                </a:solidFill>
                <a:latin typeface="Arial"/>
                <a:ea typeface="Arial"/>
                <a:cs typeface="Arial"/>
                <a:sym typeface="Arial"/>
              </a:rPr>
              <a:t>Slow reuse</a:t>
            </a:r>
            <a:endParaRPr b="0" i="0" sz="1200" u="none" cap="none" strike="noStrike">
              <a:solidFill>
                <a:schemeClr val="dk1"/>
              </a:solidFill>
              <a:latin typeface="Arial"/>
              <a:ea typeface="Arial"/>
              <a:cs typeface="Arial"/>
              <a:sym typeface="Arial"/>
            </a:endParaRPr>
          </a:p>
        </p:txBody>
      </p:sp>
      <p:sp>
        <p:nvSpPr>
          <p:cNvPr id="92" name="Google Shape;92;p17"/>
          <p:cNvSpPr/>
          <p:nvPr/>
        </p:nvSpPr>
        <p:spPr>
          <a:xfrm>
            <a:off x="3600546" y="2057400"/>
            <a:ext cx="720109" cy="514350"/>
          </a:xfrm>
          <a:prstGeom prst="chevron">
            <a:avLst>
              <a:gd fmla="val 50000" name="adj"/>
            </a:avLst>
          </a:prstGeom>
          <a:solidFill>
            <a:srgbClr val="F6C85F"/>
          </a:solidFill>
          <a:ln cap="flat" cmpd="sng" w="12700">
            <a:solidFill>
              <a:srgbClr val="F6C85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7"/>
          <p:cNvSpPr/>
          <p:nvPr/>
        </p:nvSpPr>
        <p:spPr>
          <a:xfrm>
            <a:off x="4629273" y="1062990"/>
            <a:ext cx="3394800" cy="2708910"/>
          </a:xfrm>
          <a:prstGeom prst="roundRect">
            <a:avLst>
              <a:gd fmla="val 2532"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7"/>
          <p:cNvSpPr/>
          <p:nvPr/>
        </p:nvSpPr>
        <p:spPr>
          <a:xfrm>
            <a:off x="4835019" y="1268730"/>
            <a:ext cx="1851709"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7A4D"/>
              </a:buClr>
              <a:buSzPts val="1400"/>
              <a:buFont typeface="Arial"/>
              <a:buNone/>
            </a:pPr>
            <a:r>
              <a:rPr b="1" i="0" lang="en" sz="1400" u="none" cap="none" strike="noStrike">
                <a:solidFill>
                  <a:srgbClr val="1F7A4D"/>
                </a:solidFill>
                <a:latin typeface="Arial"/>
                <a:ea typeface="Arial"/>
                <a:cs typeface="Arial"/>
                <a:sym typeface="Arial"/>
              </a:rPr>
              <a:t>Target state</a:t>
            </a:r>
            <a:endParaRPr b="0" i="0" sz="1400" u="none" cap="none" strike="noStrike">
              <a:solidFill>
                <a:schemeClr val="dk1"/>
              </a:solidFill>
              <a:latin typeface="Arial"/>
              <a:ea typeface="Arial"/>
              <a:cs typeface="Arial"/>
              <a:sym typeface="Arial"/>
            </a:endParaRPr>
          </a:p>
        </p:txBody>
      </p:sp>
      <p:sp>
        <p:nvSpPr>
          <p:cNvPr id="95" name="Google Shape;95;p17"/>
          <p:cNvSpPr/>
          <p:nvPr/>
        </p:nvSpPr>
        <p:spPr>
          <a:xfrm>
            <a:off x="4835019" y="1611630"/>
            <a:ext cx="2777564" cy="7886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1100"/>
              <a:buFont typeface="Arial"/>
              <a:buNone/>
            </a:pPr>
            <a:r>
              <a:rPr b="0" i="0" lang="en" sz="1100" u="none" cap="none" strike="noStrike">
                <a:solidFill>
                  <a:srgbClr val="5F6B63"/>
                </a:solidFill>
                <a:latin typeface="Arial"/>
                <a:ea typeface="Arial"/>
                <a:cs typeface="Arial"/>
                <a:sym typeface="Arial"/>
              </a:rPr>
              <a:t>A QR code resolves to a standardized API record that combines product identity, batch traceability, recall status, inspection context, and user-specific access views.</a:t>
            </a:r>
            <a:endParaRPr b="0" i="0" sz="1100" u="none" cap="none" strike="noStrike">
              <a:solidFill>
                <a:schemeClr val="dk1"/>
              </a:solidFill>
              <a:latin typeface="Arial"/>
              <a:ea typeface="Arial"/>
              <a:cs typeface="Arial"/>
              <a:sym typeface="Arial"/>
            </a:endParaRPr>
          </a:p>
        </p:txBody>
      </p:sp>
      <p:sp>
        <p:nvSpPr>
          <p:cNvPr id="96" name="Google Shape;96;p17"/>
          <p:cNvSpPr/>
          <p:nvPr/>
        </p:nvSpPr>
        <p:spPr>
          <a:xfrm>
            <a:off x="4835019" y="2846070"/>
            <a:ext cx="2811855" cy="5349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200"/>
              <a:buFont typeface="Arial"/>
              <a:buNone/>
            </a:pPr>
            <a:r>
              <a:rPr b="1" i="0" lang="en" sz="1200" u="none" cap="none" strike="noStrike">
                <a:solidFill>
                  <a:srgbClr val="173B2F"/>
                </a:solidFill>
                <a:latin typeface="Arial"/>
                <a:ea typeface="Arial"/>
                <a:cs typeface="Arial"/>
                <a:sym typeface="Arial"/>
              </a:rPr>
              <a:t>One scan</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73B2F"/>
              </a:buClr>
              <a:buSzPts val="1200"/>
              <a:buFont typeface="Arial"/>
              <a:buNone/>
            </a:pPr>
            <a:r>
              <a:rPr b="1" i="0" lang="en" sz="1200" u="none" cap="none" strike="noStrike">
                <a:solidFill>
                  <a:srgbClr val="173B2F"/>
                </a:solidFill>
                <a:latin typeface="Arial"/>
                <a:ea typeface="Arial"/>
                <a:cs typeface="Arial"/>
                <a:sym typeface="Arial"/>
              </a:rPr>
              <a:t>One portable record</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73B2F"/>
              </a:buClr>
              <a:buSzPts val="1200"/>
              <a:buFont typeface="Arial"/>
              <a:buNone/>
            </a:pPr>
            <a:r>
              <a:rPr b="1" i="0" lang="en" sz="1200" u="none" cap="none" strike="noStrike">
                <a:solidFill>
                  <a:srgbClr val="173B2F"/>
                </a:solidFill>
                <a:latin typeface="Arial"/>
                <a:ea typeface="Arial"/>
                <a:cs typeface="Arial"/>
                <a:sym typeface="Arial"/>
              </a:rPr>
              <a:t>Actionable safety signal</a:t>
            </a:r>
            <a:endParaRPr b="0" i="0" sz="1200" u="none" cap="none" strike="noStrike">
              <a:solidFill>
                <a:schemeClr val="dk1"/>
              </a:solidFill>
              <a:latin typeface="Arial"/>
              <a:ea typeface="Arial"/>
              <a:cs typeface="Arial"/>
              <a:sym typeface="Arial"/>
            </a:endParaRPr>
          </a:p>
        </p:txBody>
      </p:sp>
      <p:sp>
        <p:nvSpPr>
          <p:cNvPr id="97" name="Google Shape;97;p17"/>
          <p:cNvSpPr txBox="1"/>
          <p:nvPr>
            <p:ph idx="4294967295"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6A7A70"/>
                </a:solidFill>
                <a:latin typeface="Arial"/>
                <a:ea typeface="Arial"/>
                <a:cs typeface="Arial"/>
                <a:sym typeface="Arial"/>
              </a:rPr>
              <a:t>‹#›</a:t>
            </a:fld>
            <a:endParaRPr b="0" i="0" sz="600" u="none" cap="none" strike="noStrike">
              <a:solidFill>
                <a:srgbClr val="6A7A7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p:nvPr/>
        </p:nvSpPr>
        <p:spPr>
          <a:xfrm>
            <a:off x="480073" y="288036"/>
            <a:ext cx="6240946"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900"/>
              <a:buFont typeface="Play"/>
              <a:buNone/>
            </a:pPr>
            <a:r>
              <a:rPr b="1" i="0" lang="en" sz="1900" u="none" cap="none" strike="noStrike">
                <a:solidFill>
                  <a:srgbClr val="173B2F"/>
                </a:solidFill>
                <a:latin typeface="Play"/>
                <a:ea typeface="Play"/>
                <a:cs typeface="Play"/>
                <a:sym typeface="Play"/>
              </a:rPr>
              <a:t>Info story and users</a:t>
            </a:r>
            <a:endParaRPr b="0" i="0" sz="1900" u="none" cap="none" strike="noStrike">
              <a:solidFill>
                <a:schemeClr val="dk1"/>
              </a:solidFill>
              <a:latin typeface="Arial"/>
              <a:ea typeface="Arial"/>
              <a:cs typeface="Arial"/>
              <a:sym typeface="Arial"/>
            </a:endParaRPr>
          </a:p>
        </p:txBody>
      </p:sp>
      <p:sp>
        <p:nvSpPr>
          <p:cNvPr id="104" name="Google Shape;104;p18"/>
          <p:cNvSpPr/>
          <p:nvPr/>
        </p:nvSpPr>
        <p:spPr>
          <a:xfrm>
            <a:off x="493789" y="630936"/>
            <a:ext cx="5760874"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The same portable structure supports different access views.</a:t>
            </a:r>
            <a:endParaRPr b="0" i="0" sz="800" u="none" cap="none" strike="noStrike">
              <a:solidFill>
                <a:schemeClr val="dk1"/>
              </a:solidFill>
              <a:latin typeface="Arial"/>
              <a:ea typeface="Arial"/>
              <a:cs typeface="Arial"/>
              <a:sym typeface="Arial"/>
            </a:endParaRPr>
          </a:p>
        </p:txBody>
      </p:sp>
      <p:sp>
        <p:nvSpPr>
          <p:cNvPr id="105" name="Google Shape;105;p18"/>
          <p:cNvSpPr/>
          <p:nvPr/>
        </p:nvSpPr>
        <p:spPr>
          <a:xfrm>
            <a:off x="582946" y="1062990"/>
            <a:ext cx="2091746" cy="3188970"/>
          </a:xfrm>
          <a:prstGeom prst="roundRect">
            <a:avLst>
              <a:gd fmla="val 3934"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 name="Google Shape;106;p18"/>
          <p:cNvSpPr/>
          <p:nvPr/>
        </p:nvSpPr>
        <p:spPr>
          <a:xfrm>
            <a:off x="754400" y="1268730"/>
            <a:ext cx="480073" cy="480060"/>
          </a:xfrm>
          <a:prstGeom prst="ellipse">
            <a:avLst/>
          </a:prstGeom>
          <a:solidFill>
            <a:srgbClr val="1F7A4D"/>
          </a:solidFill>
          <a:ln cap="flat" cmpd="sng" w="1270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8"/>
          <p:cNvSpPr/>
          <p:nvPr/>
        </p:nvSpPr>
        <p:spPr>
          <a:xfrm>
            <a:off x="829840" y="1357884"/>
            <a:ext cx="329193"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p:txBody>
      </p:sp>
      <p:sp>
        <p:nvSpPr>
          <p:cNvPr id="108" name="Google Shape;108;p18"/>
          <p:cNvSpPr/>
          <p:nvPr/>
        </p:nvSpPr>
        <p:spPr>
          <a:xfrm>
            <a:off x="754400" y="1885950"/>
            <a:ext cx="1748837"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200"/>
              <a:buFont typeface="Arial"/>
              <a:buNone/>
            </a:pPr>
            <a:r>
              <a:rPr b="1" i="0" lang="en" sz="1200" u="none" cap="none" strike="noStrike">
                <a:solidFill>
                  <a:srgbClr val="173B2F"/>
                </a:solidFill>
                <a:latin typeface="Arial"/>
                <a:ea typeface="Arial"/>
                <a:cs typeface="Arial"/>
                <a:sym typeface="Arial"/>
              </a:rPr>
              <a:t>Everyday consumer</a:t>
            </a:r>
            <a:endParaRPr b="0" i="0" sz="1200" u="none" cap="none" strike="noStrike">
              <a:solidFill>
                <a:schemeClr val="dk1"/>
              </a:solidFill>
              <a:latin typeface="Arial"/>
              <a:ea typeface="Arial"/>
              <a:cs typeface="Arial"/>
              <a:sym typeface="Arial"/>
            </a:endParaRPr>
          </a:p>
        </p:txBody>
      </p:sp>
      <p:sp>
        <p:nvSpPr>
          <p:cNvPr id="109" name="Google Shape;109;p18"/>
          <p:cNvSpPr/>
          <p:nvPr/>
        </p:nvSpPr>
        <p:spPr>
          <a:xfrm>
            <a:off x="754400" y="2228850"/>
            <a:ext cx="1714546"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900"/>
              <a:buFont typeface="Arial"/>
              <a:buNone/>
            </a:pPr>
            <a:r>
              <a:rPr b="0" i="0" lang="en" sz="900" u="none" cap="none" strike="noStrike">
                <a:solidFill>
                  <a:srgbClr val="5F6B63"/>
                </a:solidFill>
                <a:latin typeface="Arial"/>
                <a:ea typeface="Arial"/>
                <a:cs typeface="Arial"/>
                <a:sym typeface="Arial"/>
              </a:rPr>
              <a:t>Scan a food item before purchase or use.</a:t>
            </a:r>
            <a:endParaRPr b="0" i="0" sz="900" u="none" cap="none" strike="noStrike">
              <a:solidFill>
                <a:schemeClr val="dk1"/>
              </a:solidFill>
              <a:latin typeface="Arial"/>
              <a:ea typeface="Arial"/>
              <a:cs typeface="Arial"/>
              <a:sym typeface="Arial"/>
            </a:endParaRPr>
          </a:p>
        </p:txBody>
      </p:sp>
      <p:cxnSp>
        <p:nvCxnSpPr>
          <p:cNvPr id="110" name="Google Shape;110;p18"/>
          <p:cNvCxnSpPr/>
          <p:nvPr/>
        </p:nvCxnSpPr>
        <p:spPr>
          <a:xfrm>
            <a:off x="754400" y="2900934"/>
            <a:ext cx="1714546" cy="0"/>
          </a:xfrm>
          <a:prstGeom prst="straightConnector1">
            <a:avLst/>
          </a:prstGeom>
          <a:noFill/>
          <a:ln cap="flat" cmpd="sng" w="12700">
            <a:solidFill>
              <a:srgbClr val="E1ECE4"/>
            </a:solidFill>
            <a:prstDash val="solid"/>
            <a:round/>
            <a:headEnd len="sm" w="sm" type="none"/>
            <a:tailEnd len="sm" w="sm" type="none"/>
          </a:ln>
        </p:spPr>
      </p:cxnSp>
      <p:sp>
        <p:nvSpPr>
          <p:cNvPr id="111" name="Google Shape;111;p18"/>
          <p:cNvSpPr/>
          <p:nvPr/>
        </p:nvSpPr>
        <p:spPr>
          <a:xfrm>
            <a:off x="754400" y="3120390"/>
            <a:ext cx="171454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0" i="0" lang="en" sz="900" u="none" cap="none" strike="noStrike">
                <a:solidFill>
                  <a:srgbClr val="173B2F"/>
                </a:solidFill>
                <a:latin typeface="Arial"/>
                <a:ea typeface="Arial"/>
                <a:cs typeface="Arial"/>
                <a:sym typeface="Arial"/>
              </a:rPr>
              <a:t>Need: simple safety status, origin, recall warning.</a:t>
            </a:r>
            <a:endParaRPr b="0" i="0" sz="900" u="none" cap="none" strike="noStrike">
              <a:solidFill>
                <a:schemeClr val="dk1"/>
              </a:solidFill>
              <a:latin typeface="Arial"/>
              <a:ea typeface="Arial"/>
              <a:cs typeface="Arial"/>
              <a:sym typeface="Arial"/>
            </a:endParaRPr>
          </a:p>
        </p:txBody>
      </p:sp>
      <p:sp>
        <p:nvSpPr>
          <p:cNvPr id="112" name="Google Shape;112;p18"/>
          <p:cNvSpPr/>
          <p:nvPr/>
        </p:nvSpPr>
        <p:spPr>
          <a:xfrm>
            <a:off x="3257637" y="1062990"/>
            <a:ext cx="2091746" cy="3188970"/>
          </a:xfrm>
          <a:prstGeom prst="roundRect">
            <a:avLst>
              <a:gd fmla="val 3934"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 name="Google Shape;113;p18"/>
          <p:cNvSpPr/>
          <p:nvPr/>
        </p:nvSpPr>
        <p:spPr>
          <a:xfrm>
            <a:off x="3429091" y="1268730"/>
            <a:ext cx="480073" cy="480060"/>
          </a:xfrm>
          <a:prstGeom prst="ellipse">
            <a:avLst/>
          </a:prstGeom>
          <a:solidFill>
            <a:srgbClr val="3B6FB6"/>
          </a:solidFill>
          <a:ln cap="flat" cmpd="sng" w="12700">
            <a:solidFill>
              <a:srgbClr val="3B6FB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18"/>
          <p:cNvSpPr/>
          <p:nvPr/>
        </p:nvSpPr>
        <p:spPr>
          <a:xfrm>
            <a:off x="3504531" y="1357884"/>
            <a:ext cx="329193"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p:txBody>
      </p:sp>
      <p:sp>
        <p:nvSpPr>
          <p:cNvPr id="115" name="Google Shape;115;p18"/>
          <p:cNvSpPr/>
          <p:nvPr/>
        </p:nvSpPr>
        <p:spPr>
          <a:xfrm>
            <a:off x="3429091" y="1885950"/>
            <a:ext cx="1748837"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200"/>
              <a:buFont typeface="Arial"/>
              <a:buNone/>
            </a:pPr>
            <a:r>
              <a:rPr b="1" i="0" lang="en" sz="1200" u="none" cap="none" strike="noStrike">
                <a:solidFill>
                  <a:srgbClr val="173B2F"/>
                </a:solidFill>
                <a:latin typeface="Arial"/>
                <a:ea typeface="Arial"/>
                <a:cs typeface="Arial"/>
                <a:sym typeface="Arial"/>
              </a:rPr>
              <a:t>Supply chain manager</a:t>
            </a:r>
            <a:endParaRPr b="0" i="0" sz="1200" u="none" cap="none" strike="noStrike">
              <a:solidFill>
                <a:schemeClr val="dk1"/>
              </a:solidFill>
              <a:latin typeface="Arial"/>
              <a:ea typeface="Arial"/>
              <a:cs typeface="Arial"/>
              <a:sym typeface="Arial"/>
            </a:endParaRPr>
          </a:p>
        </p:txBody>
      </p:sp>
      <p:sp>
        <p:nvSpPr>
          <p:cNvPr id="116" name="Google Shape;116;p18"/>
          <p:cNvSpPr/>
          <p:nvPr/>
        </p:nvSpPr>
        <p:spPr>
          <a:xfrm>
            <a:off x="3429091" y="2228850"/>
            <a:ext cx="1714546"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900"/>
              <a:buFont typeface="Arial"/>
              <a:buNone/>
            </a:pPr>
            <a:r>
              <a:rPr b="0" i="0" lang="en" sz="900" u="none" cap="none" strike="noStrike">
                <a:solidFill>
                  <a:srgbClr val="5F6B63"/>
                </a:solidFill>
                <a:latin typeface="Arial"/>
                <a:ea typeface="Arial"/>
                <a:cs typeface="Arial"/>
                <a:sym typeface="Arial"/>
              </a:rPr>
              <a:t>Monitor batches, inventory risk, and source quality.</a:t>
            </a:r>
            <a:endParaRPr b="0" i="0" sz="900" u="none" cap="none" strike="noStrike">
              <a:solidFill>
                <a:schemeClr val="dk1"/>
              </a:solidFill>
              <a:latin typeface="Arial"/>
              <a:ea typeface="Arial"/>
              <a:cs typeface="Arial"/>
              <a:sym typeface="Arial"/>
            </a:endParaRPr>
          </a:p>
        </p:txBody>
      </p:sp>
      <p:cxnSp>
        <p:nvCxnSpPr>
          <p:cNvPr id="117" name="Google Shape;117;p18"/>
          <p:cNvCxnSpPr/>
          <p:nvPr/>
        </p:nvCxnSpPr>
        <p:spPr>
          <a:xfrm>
            <a:off x="3429091" y="2900934"/>
            <a:ext cx="1714546" cy="0"/>
          </a:xfrm>
          <a:prstGeom prst="straightConnector1">
            <a:avLst/>
          </a:prstGeom>
          <a:noFill/>
          <a:ln cap="flat" cmpd="sng" w="12700">
            <a:solidFill>
              <a:srgbClr val="E1ECE4"/>
            </a:solidFill>
            <a:prstDash val="solid"/>
            <a:round/>
            <a:headEnd len="sm" w="sm" type="none"/>
            <a:tailEnd len="sm" w="sm" type="none"/>
          </a:ln>
        </p:spPr>
      </p:cxnSp>
      <p:sp>
        <p:nvSpPr>
          <p:cNvPr id="118" name="Google Shape;118;p18"/>
          <p:cNvSpPr/>
          <p:nvPr/>
        </p:nvSpPr>
        <p:spPr>
          <a:xfrm>
            <a:off x="3429091" y="3120390"/>
            <a:ext cx="171454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0" i="0" lang="en" sz="900" u="none" cap="none" strike="noStrike">
                <a:solidFill>
                  <a:srgbClr val="173B2F"/>
                </a:solidFill>
                <a:latin typeface="Arial"/>
                <a:ea typeface="Arial"/>
                <a:cs typeface="Arial"/>
                <a:sym typeface="Arial"/>
              </a:rPr>
              <a:t>Need: batch history, supplier status, operational alerts.</a:t>
            </a:r>
            <a:endParaRPr b="0" i="0" sz="900" u="none" cap="none" strike="noStrike">
              <a:solidFill>
                <a:schemeClr val="dk1"/>
              </a:solidFill>
              <a:latin typeface="Arial"/>
              <a:ea typeface="Arial"/>
              <a:cs typeface="Arial"/>
              <a:sym typeface="Arial"/>
            </a:endParaRPr>
          </a:p>
        </p:txBody>
      </p:sp>
      <p:sp>
        <p:nvSpPr>
          <p:cNvPr id="119" name="Google Shape;119;p18"/>
          <p:cNvSpPr/>
          <p:nvPr/>
        </p:nvSpPr>
        <p:spPr>
          <a:xfrm>
            <a:off x="5932328" y="1062990"/>
            <a:ext cx="2091746" cy="3188970"/>
          </a:xfrm>
          <a:prstGeom prst="roundRect">
            <a:avLst>
              <a:gd fmla="val 3934"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8"/>
          <p:cNvSpPr/>
          <p:nvPr/>
        </p:nvSpPr>
        <p:spPr>
          <a:xfrm>
            <a:off x="6103783" y="1268730"/>
            <a:ext cx="480073" cy="480060"/>
          </a:xfrm>
          <a:prstGeom prst="ellipse">
            <a:avLst/>
          </a:prstGeom>
          <a:solidFill>
            <a:srgbClr val="E28B3B"/>
          </a:solidFill>
          <a:ln cap="flat" cmpd="sng" w="12700">
            <a:solidFill>
              <a:srgbClr val="E28B3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1" name="Google Shape;121;p18"/>
          <p:cNvSpPr/>
          <p:nvPr/>
        </p:nvSpPr>
        <p:spPr>
          <a:xfrm>
            <a:off x="6179223" y="1357884"/>
            <a:ext cx="329193"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p:txBody>
      </p:sp>
      <p:sp>
        <p:nvSpPr>
          <p:cNvPr id="122" name="Google Shape;122;p18"/>
          <p:cNvSpPr/>
          <p:nvPr/>
        </p:nvSpPr>
        <p:spPr>
          <a:xfrm>
            <a:off x="6103783" y="1885950"/>
            <a:ext cx="1748837"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200"/>
              <a:buFont typeface="Arial"/>
              <a:buNone/>
            </a:pPr>
            <a:r>
              <a:rPr b="1" i="0" lang="en" sz="1200" u="none" cap="none" strike="noStrike">
                <a:solidFill>
                  <a:srgbClr val="173B2F"/>
                </a:solidFill>
                <a:latin typeface="Arial"/>
                <a:ea typeface="Arial"/>
                <a:cs typeface="Arial"/>
                <a:sym typeface="Arial"/>
              </a:rPr>
              <a:t>Health inspector</a:t>
            </a:r>
            <a:endParaRPr b="0" i="0" sz="1200" u="none" cap="none" strike="noStrike">
              <a:solidFill>
                <a:schemeClr val="dk1"/>
              </a:solidFill>
              <a:latin typeface="Arial"/>
              <a:ea typeface="Arial"/>
              <a:cs typeface="Arial"/>
              <a:sym typeface="Arial"/>
            </a:endParaRPr>
          </a:p>
        </p:txBody>
      </p:sp>
      <p:sp>
        <p:nvSpPr>
          <p:cNvPr id="123" name="Google Shape;123;p18"/>
          <p:cNvSpPr/>
          <p:nvPr/>
        </p:nvSpPr>
        <p:spPr>
          <a:xfrm>
            <a:off x="6103783" y="2228850"/>
            <a:ext cx="1714546"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900"/>
              <a:buFont typeface="Arial"/>
              <a:buNone/>
            </a:pPr>
            <a:r>
              <a:rPr b="0" i="0" lang="en" sz="900" u="none" cap="none" strike="noStrike">
                <a:solidFill>
                  <a:srgbClr val="5F6B63"/>
                </a:solidFill>
                <a:latin typeface="Arial"/>
                <a:ea typeface="Arial"/>
                <a:cs typeface="Arial"/>
                <a:sym typeface="Arial"/>
              </a:rPr>
              <a:t>Verify records during audits or incident response.</a:t>
            </a:r>
            <a:endParaRPr b="0" i="0" sz="900" u="none" cap="none" strike="noStrike">
              <a:solidFill>
                <a:schemeClr val="dk1"/>
              </a:solidFill>
              <a:latin typeface="Arial"/>
              <a:ea typeface="Arial"/>
              <a:cs typeface="Arial"/>
              <a:sym typeface="Arial"/>
            </a:endParaRPr>
          </a:p>
        </p:txBody>
      </p:sp>
      <p:cxnSp>
        <p:nvCxnSpPr>
          <p:cNvPr id="124" name="Google Shape;124;p18"/>
          <p:cNvCxnSpPr/>
          <p:nvPr/>
        </p:nvCxnSpPr>
        <p:spPr>
          <a:xfrm>
            <a:off x="6103783" y="2900934"/>
            <a:ext cx="1714546" cy="0"/>
          </a:xfrm>
          <a:prstGeom prst="straightConnector1">
            <a:avLst/>
          </a:prstGeom>
          <a:noFill/>
          <a:ln cap="flat" cmpd="sng" w="12700">
            <a:solidFill>
              <a:srgbClr val="E1ECE4"/>
            </a:solidFill>
            <a:prstDash val="solid"/>
            <a:round/>
            <a:headEnd len="sm" w="sm" type="none"/>
            <a:tailEnd len="sm" w="sm" type="none"/>
          </a:ln>
        </p:spPr>
      </p:cxnSp>
      <p:sp>
        <p:nvSpPr>
          <p:cNvPr id="125" name="Google Shape;125;p18"/>
          <p:cNvSpPr/>
          <p:nvPr/>
        </p:nvSpPr>
        <p:spPr>
          <a:xfrm>
            <a:off x="6103783" y="3120390"/>
            <a:ext cx="171454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0" i="0" lang="en" sz="900" u="none" cap="none" strike="noStrike">
                <a:solidFill>
                  <a:srgbClr val="173B2F"/>
                </a:solidFill>
                <a:latin typeface="Arial"/>
                <a:ea typeface="Arial"/>
                <a:cs typeface="Arial"/>
                <a:sym typeface="Arial"/>
              </a:rPr>
              <a:t>Need: traceable evidence, update metadata, audit details.</a:t>
            </a:r>
            <a:endParaRPr b="0" i="0" sz="900" u="none" cap="none" strike="noStrike">
              <a:solidFill>
                <a:schemeClr val="dk1"/>
              </a:solidFill>
              <a:latin typeface="Arial"/>
              <a:ea typeface="Arial"/>
              <a:cs typeface="Arial"/>
              <a:sym typeface="Arial"/>
            </a:endParaRPr>
          </a:p>
        </p:txBody>
      </p:sp>
      <p:sp>
        <p:nvSpPr>
          <p:cNvPr id="126" name="Google Shape;126;p18"/>
          <p:cNvSpPr txBox="1"/>
          <p:nvPr>
            <p:ph idx="4294967295"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6A7A70"/>
                </a:solidFill>
                <a:latin typeface="Arial"/>
                <a:ea typeface="Arial"/>
                <a:cs typeface="Arial"/>
                <a:sym typeface="Arial"/>
              </a:rPr>
              <a:t>‹#›</a:t>
            </a:fld>
            <a:endParaRPr b="0" i="0" sz="600" u="none" cap="none" strike="noStrike">
              <a:solidFill>
                <a:srgbClr val="6A7A7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p:nvPr/>
        </p:nvSpPr>
        <p:spPr>
          <a:xfrm>
            <a:off x="480073" y="288036"/>
            <a:ext cx="6240946"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900"/>
              <a:buFont typeface="Play"/>
              <a:buNone/>
            </a:pPr>
            <a:r>
              <a:rPr b="1" i="0" lang="en" sz="1900" u="none" cap="none" strike="noStrike">
                <a:solidFill>
                  <a:srgbClr val="173B2F"/>
                </a:solidFill>
                <a:latin typeface="Play"/>
                <a:ea typeface="Play"/>
                <a:cs typeface="Play"/>
                <a:sym typeface="Play"/>
              </a:rPr>
              <a:t>Existing information structures</a:t>
            </a:r>
            <a:endParaRPr b="0" i="0" sz="1900" u="none" cap="none" strike="noStrike">
              <a:solidFill>
                <a:schemeClr val="dk1"/>
              </a:solidFill>
              <a:latin typeface="Arial"/>
              <a:ea typeface="Arial"/>
              <a:cs typeface="Arial"/>
              <a:sym typeface="Arial"/>
            </a:endParaRPr>
          </a:p>
        </p:txBody>
      </p:sp>
      <p:sp>
        <p:nvSpPr>
          <p:cNvPr id="133" name="Google Shape;133;p19"/>
          <p:cNvSpPr/>
          <p:nvPr/>
        </p:nvSpPr>
        <p:spPr>
          <a:xfrm>
            <a:off x="493789" y="630936"/>
            <a:ext cx="5760874"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The prototype extracts and restructures existing information rather than inventing a new closed dataset.</a:t>
            </a:r>
            <a:endParaRPr b="0" i="0" sz="800" u="none" cap="none" strike="noStrike">
              <a:solidFill>
                <a:schemeClr val="dk1"/>
              </a:solidFill>
              <a:latin typeface="Arial"/>
              <a:ea typeface="Arial"/>
              <a:cs typeface="Arial"/>
              <a:sym typeface="Arial"/>
            </a:endParaRPr>
          </a:p>
        </p:txBody>
      </p:sp>
      <p:cxnSp>
        <p:nvCxnSpPr>
          <p:cNvPr id="134" name="Google Shape;134;p19"/>
          <p:cNvCxnSpPr/>
          <p:nvPr/>
        </p:nvCxnSpPr>
        <p:spPr>
          <a:xfrm>
            <a:off x="2126037" y="1474470"/>
            <a:ext cx="1371637" cy="514350"/>
          </a:xfrm>
          <a:prstGeom prst="straightConnector1">
            <a:avLst/>
          </a:prstGeom>
          <a:noFill/>
          <a:ln cap="flat" cmpd="sng" w="25400">
            <a:solidFill>
              <a:srgbClr val="B8CBBB"/>
            </a:solidFill>
            <a:prstDash val="solid"/>
            <a:round/>
            <a:headEnd len="sm" w="sm" type="none"/>
            <a:tailEnd len="med" w="med" type="triangle"/>
          </a:ln>
        </p:spPr>
      </p:cxnSp>
      <p:cxnSp>
        <p:nvCxnSpPr>
          <p:cNvPr id="135" name="Google Shape;135;p19"/>
          <p:cNvCxnSpPr/>
          <p:nvPr/>
        </p:nvCxnSpPr>
        <p:spPr>
          <a:xfrm>
            <a:off x="2126037" y="2160270"/>
            <a:ext cx="1371637" cy="0"/>
          </a:xfrm>
          <a:prstGeom prst="straightConnector1">
            <a:avLst/>
          </a:prstGeom>
          <a:noFill/>
          <a:ln cap="flat" cmpd="sng" w="25400">
            <a:solidFill>
              <a:srgbClr val="B8CBBB"/>
            </a:solidFill>
            <a:prstDash val="solid"/>
            <a:round/>
            <a:headEnd len="sm" w="sm" type="none"/>
            <a:tailEnd len="med" w="med" type="triangle"/>
          </a:ln>
        </p:spPr>
      </p:cxnSp>
      <p:cxnSp>
        <p:nvCxnSpPr>
          <p:cNvPr id="136" name="Google Shape;136;p19"/>
          <p:cNvCxnSpPr/>
          <p:nvPr/>
        </p:nvCxnSpPr>
        <p:spPr>
          <a:xfrm flipH="1" rot="10800000">
            <a:off x="2126037" y="2331720"/>
            <a:ext cx="1371637" cy="514350"/>
          </a:xfrm>
          <a:prstGeom prst="straightConnector1">
            <a:avLst/>
          </a:prstGeom>
          <a:noFill/>
          <a:ln cap="flat" cmpd="sng" w="25400">
            <a:solidFill>
              <a:srgbClr val="B8CBBB"/>
            </a:solidFill>
            <a:prstDash val="solid"/>
            <a:round/>
            <a:headEnd len="sm" w="sm" type="none"/>
            <a:tailEnd len="med" w="med" type="triangle"/>
          </a:ln>
        </p:spPr>
      </p:cxnSp>
      <p:cxnSp>
        <p:nvCxnSpPr>
          <p:cNvPr id="137" name="Google Shape;137;p19"/>
          <p:cNvCxnSpPr/>
          <p:nvPr/>
        </p:nvCxnSpPr>
        <p:spPr>
          <a:xfrm>
            <a:off x="5212219" y="2160270"/>
            <a:ext cx="1440218" cy="0"/>
          </a:xfrm>
          <a:prstGeom prst="straightConnector1">
            <a:avLst/>
          </a:prstGeom>
          <a:noFill/>
          <a:ln cap="flat" cmpd="sng" w="25400">
            <a:solidFill>
              <a:srgbClr val="B8CBBB"/>
            </a:solidFill>
            <a:prstDash val="solid"/>
            <a:round/>
            <a:headEnd len="sm" w="sm" type="none"/>
            <a:tailEnd len="med" w="med" type="triangle"/>
          </a:ln>
        </p:spPr>
      </p:cxnSp>
      <p:sp>
        <p:nvSpPr>
          <p:cNvPr id="138" name="Google Shape;138;p19"/>
          <p:cNvSpPr/>
          <p:nvPr/>
        </p:nvSpPr>
        <p:spPr>
          <a:xfrm>
            <a:off x="548655" y="1062990"/>
            <a:ext cx="1577382" cy="493776"/>
          </a:xfrm>
          <a:prstGeom prst="roundRect">
            <a:avLst>
              <a:gd fmla="val 11111" name="adj"/>
            </a:avLst>
          </a:prstGeom>
          <a:solidFill>
            <a:srgbClr val="FFFFFF"/>
          </a:solidFill>
          <a:ln cap="flat" cmpd="sng" w="12700">
            <a:solidFill>
              <a:srgbClr val="D5E4D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19"/>
          <p:cNvSpPr/>
          <p:nvPr/>
        </p:nvSpPr>
        <p:spPr>
          <a:xfrm>
            <a:off x="685818" y="1145286"/>
            <a:ext cx="1303055"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1" i="0" lang="en" sz="800" u="none" cap="none" strike="noStrike">
                <a:solidFill>
                  <a:srgbClr val="173B2F"/>
                </a:solidFill>
                <a:latin typeface="Arial"/>
                <a:ea typeface="Arial"/>
                <a:cs typeface="Arial"/>
                <a:sym typeface="Arial"/>
              </a:rPr>
              <a:t>GS1 Digital Link</a:t>
            </a:r>
            <a:endParaRPr b="0" i="0" sz="800" u="none" cap="none" strike="noStrike">
              <a:solidFill>
                <a:schemeClr val="dk1"/>
              </a:solidFill>
              <a:latin typeface="Arial"/>
              <a:ea typeface="Arial"/>
              <a:cs typeface="Arial"/>
              <a:sym typeface="Arial"/>
            </a:endParaRPr>
          </a:p>
        </p:txBody>
      </p:sp>
      <p:sp>
        <p:nvSpPr>
          <p:cNvPr id="140" name="Google Shape;140;p19"/>
          <p:cNvSpPr/>
          <p:nvPr/>
        </p:nvSpPr>
        <p:spPr>
          <a:xfrm>
            <a:off x="685818" y="1323594"/>
            <a:ext cx="1303055"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600"/>
              <a:buFont typeface="Arial"/>
              <a:buNone/>
            </a:pPr>
            <a:r>
              <a:rPr b="0" i="0" lang="en" sz="600" u="none" cap="none" strike="noStrike">
                <a:solidFill>
                  <a:srgbClr val="5F6B63"/>
                </a:solidFill>
                <a:latin typeface="Arial"/>
                <a:ea typeface="Arial"/>
                <a:cs typeface="Arial"/>
                <a:sym typeface="Arial"/>
              </a:rPr>
              <a:t>Product identity + QR resolving pattern</a:t>
            </a:r>
            <a:endParaRPr b="0" i="0" sz="600" u="none" cap="none" strike="noStrike">
              <a:solidFill>
                <a:schemeClr val="dk1"/>
              </a:solidFill>
              <a:latin typeface="Arial"/>
              <a:ea typeface="Arial"/>
              <a:cs typeface="Arial"/>
              <a:sym typeface="Arial"/>
            </a:endParaRPr>
          </a:p>
        </p:txBody>
      </p:sp>
      <p:sp>
        <p:nvSpPr>
          <p:cNvPr id="141" name="Google Shape;141;p19"/>
          <p:cNvSpPr/>
          <p:nvPr/>
        </p:nvSpPr>
        <p:spPr>
          <a:xfrm>
            <a:off x="548655" y="1748790"/>
            <a:ext cx="1577382" cy="493776"/>
          </a:xfrm>
          <a:prstGeom prst="roundRect">
            <a:avLst>
              <a:gd fmla="val 11111" name="adj"/>
            </a:avLst>
          </a:prstGeom>
          <a:solidFill>
            <a:srgbClr val="FFFFFF"/>
          </a:solidFill>
          <a:ln cap="flat" cmpd="sng" w="12700">
            <a:solidFill>
              <a:srgbClr val="D5E4D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2" name="Google Shape;142;p19"/>
          <p:cNvSpPr/>
          <p:nvPr/>
        </p:nvSpPr>
        <p:spPr>
          <a:xfrm>
            <a:off x="685818" y="1831086"/>
            <a:ext cx="1303055"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1" i="0" lang="en" sz="800" u="none" cap="none" strike="noStrike">
                <a:solidFill>
                  <a:srgbClr val="173B2F"/>
                </a:solidFill>
                <a:latin typeface="Arial"/>
                <a:ea typeface="Arial"/>
                <a:cs typeface="Arial"/>
                <a:sym typeface="Arial"/>
              </a:rPr>
              <a:t>openFDA recall feed</a:t>
            </a:r>
            <a:endParaRPr b="0" i="0" sz="800" u="none" cap="none" strike="noStrike">
              <a:solidFill>
                <a:schemeClr val="dk1"/>
              </a:solidFill>
              <a:latin typeface="Arial"/>
              <a:ea typeface="Arial"/>
              <a:cs typeface="Arial"/>
              <a:sym typeface="Arial"/>
            </a:endParaRPr>
          </a:p>
        </p:txBody>
      </p:sp>
      <p:sp>
        <p:nvSpPr>
          <p:cNvPr id="143" name="Google Shape;143;p19"/>
          <p:cNvSpPr/>
          <p:nvPr/>
        </p:nvSpPr>
        <p:spPr>
          <a:xfrm>
            <a:off x="685818" y="2009394"/>
            <a:ext cx="1303055"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600"/>
              <a:buFont typeface="Arial"/>
              <a:buNone/>
            </a:pPr>
            <a:r>
              <a:rPr b="0" i="0" lang="en" sz="600" u="none" cap="none" strike="noStrike">
                <a:solidFill>
                  <a:srgbClr val="5F6B63"/>
                </a:solidFill>
                <a:latin typeface="Arial"/>
                <a:ea typeface="Arial"/>
                <a:cs typeface="Arial"/>
                <a:sym typeface="Arial"/>
              </a:rPr>
              <a:t>Recall reason, firm, product description</a:t>
            </a:r>
            <a:endParaRPr b="0" i="0" sz="600" u="none" cap="none" strike="noStrike">
              <a:solidFill>
                <a:schemeClr val="dk1"/>
              </a:solidFill>
              <a:latin typeface="Arial"/>
              <a:ea typeface="Arial"/>
              <a:cs typeface="Arial"/>
              <a:sym typeface="Arial"/>
            </a:endParaRPr>
          </a:p>
        </p:txBody>
      </p:sp>
      <p:sp>
        <p:nvSpPr>
          <p:cNvPr id="144" name="Google Shape;144;p19"/>
          <p:cNvSpPr/>
          <p:nvPr/>
        </p:nvSpPr>
        <p:spPr>
          <a:xfrm>
            <a:off x="548655" y="2434590"/>
            <a:ext cx="1577382" cy="493776"/>
          </a:xfrm>
          <a:prstGeom prst="roundRect">
            <a:avLst>
              <a:gd fmla="val 11111" name="adj"/>
            </a:avLst>
          </a:prstGeom>
          <a:solidFill>
            <a:srgbClr val="FFFFFF"/>
          </a:solidFill>
          <a:ln cap="flat" cmpd="sng" w="12700">
            <a:solidFill>
              <a:srgbClr val="D5E4D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5" name="Google Shape;145;p19"/>
          <p:cNvSpPr/>
          <p:nvPr/>
        </p:nvSpPr>
        <p:spPr>
          <a:xfrm>
            <a:off x="685818" y="2516886"/>
            <a:ext cx="1303055"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1" i="0" lang="en" sz="800" u="none" cap="none" strike="noStrike">
                <a:solidFill>
                  <a:srgbClr val="173B2F"/>
                </a:solidFill>
                <a:latin typeface="Arial"/>
                <a:ea typeface="Arial"/>
                <a:cs typeface="Arial"/>
                <a:sym typeface="Arial"/>
              </a:rPr>
              <a:t>Supplier / inspection records</a:t>
            </a:r>
            <a:endParaRPr b="0" i="0" sz="800" u="none" cap="none" strike="noStrike">
              <a:solidFill>
                <a:schemeClr val="dk1"/>
              </a:solidFill>
              <a:latin typeface="Arial"/>
              <a:ea typeface="Arial"/>
              <a:cs typeface="Arial"/>
              <a:sym typeface="Arial"/>
            </a:endParaRPr>
          </a:p>
        </p:txBody>
      </p:sp>
      <p:sp>
        <p:nvSpPr>
          <p:cNvPr id="146" name="Google Shape;146;p19"/>
          <p:cNvSpPr/>
          <p:nvPr/>
        </p:nvSpPr>
        <p:spPr>
          <a:xfrm>
            <a:off x="685818" y="2695194"/>
            <a:ext cx="1303055"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600"/>
              <a:buFont typeface="Arial"/>
              <a:buNone/>
            </a:pPr>
            <a:r>
              <a:rPr b="0" i="0" lang="en" sz="600" u="none" cap="none" strike="noStrike">
                <a:solidFill>
                  <a:srgbClr val="5F6B63"/>
                </a:solidFill>
                <a:latin typeface="Arial"/>
                <a:ea typeface="Arial"/>
                <a:cs typeface="Arial"/>
                <a:sym typeface="Arial"/>
              </a:rPr>
              <a:t>Batch, origin, handling, audit fields</a:t>
            </a:r>
            <a:endParaRPr b="0" i="0" sz="600" u="none" cap="none" strike="noStrike">
              <a:solidFill>
                <a:schemeClr val="dk1"/>
              </a:solidFill>
              <a:latin typeface="Arial"/>
              <a:ea typeface="Arial"/>
              <a:cs typeface="Arial"/>
              <a:sym typeface="Arial"/>
            </a:endParaRPr>
          </a:p>
        </p:txBody>
      </p:sp>
      <p:sp>
        <p:nvSpPr>
          <p:cNvPr id="147" name="Google Shape;147;p19"/>
          <p:cNvSpPr/>
          <p:nvPr/>
        </p:nvSpPr>
        <p:spPr>
          <a:xfrm>
            <a:off x="3497673" y="1474470"/>
            <a:ext cx="1714546" cy="1337310"/>
          </a:xfrm>
          <a:prstGeom prst="hexagon">
            <a:avLst>
              <a:gd fmla="val 25000" name="adj"/>
              <a:gd fmla="val 115470" name="vf"/>
            </a:avLst>
          </a:prstGeom>
          <a:solidFill>
            <a:srgbClr val="DFF1E5"/>
          </a:solidFill>
          <a:ln cap="flat" cmpd="sng" w="1905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19"/>
          <p:cNvSpPr/>
          <p:nvPr/>
        </p:nvSpPr>
        <p:spPr>
          <a:xfrm>
            <a:off x="3717135" y="1865376"/>
            <a:ext cx="1268764"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2F"/>
              </a:buClr>
              <a:buSzPts val="1400"/>
              <a:buFont typeface="Arial"/>
              <a:buNone/>
            </a:pPr>
            <a:r>
              <a:rPr b="1" i="0" lang="en" sz="1400" u="none" cap="none" strike="noStrike">
                <a:solidFill>
                  <a:srgbClr val="173B2F"/>
                </a:solidFill>
                <a:latin typeface="Arial"/>
                <a:ea typeface="Arial"/>
                <a:cs typeface="Arial"/>
                <a:sym typeface="Arial"/>
              </a:rPr>
              <a:t>Normalize +</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73B2F"/>
              </a:buClr>
              <a:buSzPts val="1400"/>
              <a:buFont typeface="Arial"/>
              <a:buNone/>
            </a:pPr>
            <a:r>
              <a:rPr b="1" i="0" lang="en" sz="1400" u="none" cap="none" strike="noStrike">
                <a:solidFill>
                  <a:srgbClr val="173B2F"/>
                </a:solidFill>
                <a:latin typeface="Arial"/>
                <a:ea typeface="Arial"/>
                <a:cs typeface="Arial"/>
                <a:sym typeface="Arial"/>
              </a:rPr>
              <a:t>restructure</a:t>
            </a:r>
            <a:endParaRPr b="0" i="0" sz="1400" u="none" cap="none" strike="noStrike">
              <a:solidFill>
                <a:schemeClr val="dk1"/>
              </a:solidFill>
              <a:latin typeface="Arial"/>
              <a:ea typeface="Arial"/>
              <a:cs typeface="Arial"/>
              <a:sym typeface="Arial"/>
            </a:endParaRPr>
          </a:p>
        </p:txBody>
      </p:sp>
      <p:sp>
        <p:nvSpPr>
          <p:cNvPr id="149" name="Google Shape;149;p19"/>
          <p:cNvSpPr/>
          <p:nvPr/>
        </p:nvSpPr>
        <p:spPr>
          <a:xfrm>
            <a:off x="6686728" y="1543050"/>
            <a:ext cx="1817418" cy="1165860"/>
          </a:xfrm>
          <a:prstGeom prst="roundRect">
            <a:avLst>
              <a:gd fmla="val 7059" name="adj"/>
            </a:avLst>
          </a:prstGeom>
          <a:solidFill>
            <a:srgbClr val="FFFFFF"/>
          </a:solidFill>
          <a:ln cap="flat" cmpd="sng" w="1905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19"/>
          <p:cNvSpPr/>
          <p:nvPr/>
        </p:nvSpPr>
        <p:spPr>
          <a:xfrm>
            <a:off x="6892474" y="1796796"/>
            <a:ext cx="1440218"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7A4D"/>
              </a:buClr>
              <a:buSzPts val="1100"/>
              <a:buFont typeface="Arial"/>
              <a:buNone/>
            </a:pPr>
            <a:r>
              <a:rPr b="1" i="0" lang="en" sz="1100" u="none" cap="none" strike="noStrike">
                <a:solidFill>
                  <a:srgbClr val="1F7A4D"/>
                </a:solidFill>
                <a:latin typeface="Arial"/>
                <a:ea typeface="Arial"/>
                <a:cs typeface="Arial"/>
                <a:sym typeface="Arial"/>
              </a:rPr>
              <a:t>Portable JSON API record</a:t>
            </a:r>
            <a:endParaRPr b="0" i="0" sz="1100" u="none" cap="none" strike="noStrike">
              <a:solidFill>
                <a:schemeClr val="dk1"/>
              </a:solidFill>
              <a:latin typeface="Arial"/>
              <a:ea typeface="Arial"/>
              <a:cs typeface="Arial"/>
              <a:sym typeface="Arial"/>
            </a:endParaRPr>
          </a:p>
        </p:txBody>
      </p:sp>
      <p:sp>
        <p:nvSpPr>
          <p:cNvPr id="151" name="Google Shape;151;p19"/>
          <p:cNvSpPr/>
          <p:nvPr/>
        </p:nvSpPr>
        <p:spPr>
          <a:xfrm>
            <a:off x="6871899" y="2098548"/>
            <a:ext cx="1481367"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Stable identity + dynamic safety metadata + access filters</a:t>
            </a:r>
            <a:endParaRPr b="0" i="0" sz="700" u="none" cap="none" strike="noStrike">
              <a:solidFill>
                <a:schemeClr val="dk1"/>
              </a:solidFill>
              <a:latin typeface="Arial"/>
              <a:ea typeface="Arial"/>
              <a:cs typeface="Arial"/>
              <a:sym typeface="Arial"/>
            </a:endParaRPr>
          </a:p>
        </p:txBody>
      </p:sp>
      <p:sp>
        <p:nvSpPr>
          <p:cNvPr id="152" name="Google Shape;152;p19"/>
          <p:cNvSpPr/>
          <p:nvPr/>
        </p:nvSpPr>
        <p:spPr>
          <a:xfrm>
            <a:off x="582946" y="3874770"/>
            <a:ext cx="788691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000"/>
              <a:buFont typeface="Arial"/>
              <a:buNone/>
            </a:pPr>
            <a:r>
              <a:rPr b="0" i="0" lang="en" sz="1000" u="none" cap="none" strike="noStrike">
                <a:solidFill>
                  <a:srgbClr val="173B2F"/>
                </a:solidFill>
                <a:latin typeface="Arial"/>
                <a:ea typeface="Arial"/>
                <a:cs typeface="Arial"/>
                <a:sym typeface="Arial"/>
              </a:rPr>
              <a:t>Methodology: Extract fields from current sources, transform inconsistent names and values, then expose a reusable structure for web, mobile, CSV, and API use.</a:t>
            </a:r>
            <a:endParaRPr b="0" i="0" sz="1000" u="none" cap="none" strike="noStrike">
              <a:solidFill>
                <a:schemeClr val="dk1"/>
              </a:solidFill>
              <a:latin typeface="Arial"/>
              <a:ea typeface="Arial"/>
              <a:cs typeface="Arial"/>
              <a:sym typeface="Arial"/>
            </a:endParaRPr>
          </a:p>
        </p:txBody>
      </p:sp>
      <p:sp>
        <p:nvSpPr>
          <p:cNvPr id="153" name="Google Shape;153;p19"/>
          <p:cNvSpPr txBox="1"/>
          <p:nvPr>
            <p:ph idx="4294967295"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6A7A70"/>
                </a:solidFill>
                <a:latin typeface="Arial"/>
                <a:ea typeface="Arial"/>
                <a:cs typeface="Arial"/>
                <a:sym typeface="Arial"/>
              </a:rPr>
              <a:t>‹#›</a:t>
            </a:fld>
            <a:endParaRPr b="0" i="0" sz="600" u="none" cap="none" strike="noStrike">
              <a:solidFill>
                <a:srgbClr val="6A7A7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p:nvPr/>
        </p:nvSpPr>
        <p:spPr>
          <a:xfrm>
            <a:off x="480073" y="288036"/>
            <a:ext cx="6240946"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900"/>
              <a:buFont typeface="Play"/>
              <a:buNone/>
            </a:pPr>
            <a:r>
              <a:rPr b="1" i="0" lang="en" sz="1900" u="none" cap="none" strike="noStrike">
                <a:solidFill>
                  <a:srgbClr val="173B2F"/>
                </a:solidFill>
                <a:latin typeface="Play"/>
                <a:ea typeface="Play"/>
                <a:cs typeface="Play"/>
                <a:sym typeface="Play"/>
              </a:rPr>
              <a:t>FAIR assessment of the current state</a:t>
            </a:r>
            <a:endParaRPr b="0" i="0" sz="1900" u="none" cap="none" strike="noStrike">
              <a:solidFill>
                <a:schemeClr val="dk1"/>
              </a:solidFill>
              <a:latin typeface="Arial"/>
              <a:ea typeface="Arial"/>
              <a:cs typeface="Arial"/>
              <a:sym typeface="Arial"/>
            </a:endParaRPr>
          </a:p>
        </p:txBody>
      </p:sp>
      <p:sp>
        <p:nvSpPr>
          <p:cNvPr id="160" name="Google Shape;160;p20"/>
          <p:cNvSpPr/>
          <p:nvPr/>
        </p:nvSpPr>
        <p:spPr>
          <a:xfrm>
            <a:off x="493789" y="630936"/>
            <a:ext cx="5760874"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The current ecosystem is useful, but not yet reusable as one decision-ready safety record.</a:t>
            </a:r>
            <a:endParaRPr b="0" i="0" sz="800" u="none" cap="none" strike="noStrike">
              <a:solidFill>
                <a:schemeClr val="dk1"/>
              </a:solidFill>
              <a:latin typeface="Arial"/>
              <a:ea typeface="Arial"/>
              <a:cs typeface="Arial"/>
              <a:sym typeface="Arial"/>
            </a:endParaRPr>
          </a:p>
        </p:txBody>
      </p:sp>
      <p:sp>
        <p:nvSpPr>
          <p:cNvPr id="161" name="Google Shape;161;p20"/>
          <p:cNvSpPr/>
          <p:nvPr/>
        </p:nvSpPr>
        <p:spPr>
          <a:xfrm>
            <a:off x="582946" y="1062990"/>
            <a:ext cx="7886910" cy="329184"/>
          </a:xfrm>
          <a:prstGeom prst="rect">
            <a:avLst/>
          </a:prstGeom>
          <a:solidFill>
            <a:srgbClr val="1F7A4D"/>
          </a:solidFill>
          <a:ln cap="flat" cmpd="sng" w="1270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2" name="Google Shape;162;p20"/>
          <p:cNvSpPr/>
          <p:nvPr/>
        </p:nvSpPr>
        <p:spPr>
          <a:xfrm>
            <a:off x="665244" y="1165860"/>
            <a:ext cx="925855" cy="822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Arial"/>
              <a:buNone/>
            </a:pPr>
            <a:r>
              <a:rPr b="1" i="0" lang="en" sz="700" u="none" cap="none" strike="noStrike">
                <a:solidFill>
                  <a:srgbClr val="FFFFFF"/>
                </a:solidFill>
                <a:latin typeface="Arial"/>
                <a:ea typeface="Arial"/>
                <a:cs typeface="Arial"/>
                <a:sym typeface="Arial"/>
              </a:rPr>
              <a:t>FAIR area</a:t>
            </a:r>
            <a:endParaRPr b="0" i="0" sz="700" u="none" cap="none" strike="noStrike">
              <a:solidFill>
                <a:schemeClr val="dk1"/>
              </a:solidFill>
              <a:latin typeface="Arial"/>
              <a:ea typeface="Arial"/>
              <a:cs typeface="Arial"/>
              <a:sym typeface="Arial"/>
            </a:endParaRPr>
          </a:p>
        </p:txBody>
      </p:sp>
      <p:sp>
        <p:nvSpPr>
          <p:cNvPr id="163" name="Google Shape;163;p20"/>
          <p:cNvSpPr/>
          <p:nvPr/>
        </p:nvSpPr>
        <p:spPr>
          <a:xfrm>
            <a:off x="1728262" y="1165860"/>
            <a:ext cx="788691" cy="822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Arial"/>
              <a:buNone/>
            </a:pPr>
            <a:r>
              <a:rPr b="1" i="0" lang="en" sz="700" u="none" cap="none" strike="noStrike">
                <a:solidFill>
                  <a:srgbClr val="FFFFFF"/>
                </a:solidFill>
                <a:latin typeface="Arial"/>
                <a:ea typeface="Arial"/>
                <a:cs typeface="Arial"/>
                <a:sym typeface="Arial"/>
              </a:rPr>
              <a:t>Rating</a:t>
            </a:r>
            <a:endParaRPr b="0" i="0" sz="700" u="none" cap="none" strike="noStrike">
              <a:solidFill>
                <a:schemeClr val="dk1"/>
              </a:solidFill>
              <a:latin typeface="Arial"/>
              <a:ea typeface="Arial"/>
              <a:cs typeface="Arial"/>
              <a:sym typeface="Arial"/>
            </a:endParaRPr>
          </a:p>
        </p:txBody>
      </p:sp>
      <p:sp>
        <p:nvSpPr>
          <p:cNvPr id="164" name="Google Shape;164;p20"/>
          <p:cNvSpPr/>
          <p:nvPr/>
        </p:nvSpPr>
        <p:spPr>
          <a:xfrm>
            <a:off x="2654117" y="1165860"/>
            <a:ext cx="5760874" cy="822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Arial"/>
              <a:buNone/>
            </a:pPr>
            <a:r>
              <a:rPr b="1" i="0" lang="en" sz="700" u="none" cap="none" strike="noStrike">
                <a:solidFill>
                  <a:srgbClr val="FFFFFF"/>
                </a:solidFill>
                <a:latin typeface="Arial"/>
                <a:ea typeface="Arial"/>
                <a:cs typeface="Arial"/>
                <a:sym typeface="Arial"/>
              </a:rPr>
              <a:t>Why it matters for the information story</a:t>
            </a:r>
            <a:endParaRPr b="0" i="0" sz="700" u="none" cap="none" strike="noStrike">
              <a:solidFill>
                <a:schemeClr val="dk1"/>
              </a:solidFill>
              <a:latin typeface="Arial"/>
              <a:ea typeface="Arial"/>
              <a:cs typeface="Arial"/>
              <a:sym typeface="Arial"/>
            </a:endParaRPr>
          </a:p>
        </p:txBody>
      </p:sp>
      <p:sp>
        <p:nvSpPr>
          <p:cNvPr id="165" name="Google Shape;165;p20"/>
          <p:cNvSpPr/>
          <p:nvPr/>
        </p:nvSpPr>
        <p:spPr>
          <a:xfrm>
            <a:off x="582946" y="1392174"/>
            <a:ext cx="7886910" cy="493776"/>
          </a:xfrm>
          <a:prstGeom prst="rect">
            <a:avLst/>
          </a:prstGeom>
          <a:solidFill>
            <a:srgbClr val="FFFFFF"/>
          </a:solidFill>
          <a:ln cap="flat" cmpd="sng" w="9525">
            <a:solidFill>
              <a:srgbClr val="D5E4D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166" name="Google Shape;166;p20"/>
          <p:cNvCxnSpPr/>
          <p:nvPr/>
        </p:nvCxnSpPr>
        <p:spPr>
          <a:xfrm>
            <a:off x="1645964" y="1392174"/>
            <a:ext cx="0" cy="493776"/>
          </a:xfrm>
          <a:prstGeom prst="straightConnector1">
            <a:avLst/>
          </a:prstGeom>
          <a:noFill/>
          <a:ln cap="flat" cmpd="sng" w="9525">
            <a:solidFill>
              <a:srgbClr val="D5E4D7"/>
            </a:solidFill>
            <a:prstDash val="solid"/>
            <a:round/>
            <a:headEnd len="sm" w="sm" type="none"/>
            <a:tailEnd len="sm" w="sm" type="none"/>
          </a:ln>
        </p:spPr>
      </p:cxnSp>
      <p:cxnSp>
        <p:nvCxnSpPr>
          <p:cNvPr id="167" name="Google Shape;167;p20"/>
          <p:cNvCxnSpPr/>
          <p:nvPr/>
        </p:nvCxnSpPr>
        <p:spPr>
          <a:xfrm>
            <a:off x="2571819" y="1392174"/>
            <a:ext cx="0" cy="493776"/>
          </a:xfrm>
          <a:prstGeom prst="straightConnector1">
            <a:avLst/>
          </a:prstGeom>
          <a:noFill/>
          <a:ln cap="flat" cmpd="sng" w="9525">
            <a:solidFill>
              <a:srgbClr val="D5E4D7"/>
            </a:solidFill>
            <a:prstDash val="solid"/>
            <a:round/>
            <a:headEnd len="sm" w="sm" type="none"/>
            <a:tailEnd len="sm" w="sm" type="none"/>
          </a:ln>
        </p:spPr>
      </p:cxnSp>
      <p:sp>
        <p:nvSpPr>
          <p:cNvPr id="168" name="Google Shape;168;p20"/>
          <p:cNvSpPr/>
          <p:nvPr/>
        </p:nvSpPr>
        <p:spPr>
          <a:xfrm>
            <a:off x="665244" y="1543050"/>
            <a:ext cx="898422"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1" i="0" lang="en" sz="800" u="none" cap="none" strike="noStrike">
                <a:solidFill>
                  <a:srgbClr val="173B2F"/>
                </a:solidFill>
                <a:latin typeface="Arial"/>
                <a:ea typeface="Arial"/>
                <a:cs typeface="Arial"/>
                <a:sym typeface="Arial"/>
              </a:rPr>
              <a:t>Findable</a:t>
            </a:r>
            <a:endParaRPr b="0" i="0" sz="800" u="none" cap="none" strike="noStrike">
              <a:solidFill>
                <a:schemeClr val="dk1"/>
              </a:solidFill>
              <a:latin typeface="Arial"/>
              <a:ea typeface="Arial"/>
              <a:cs typeface="Arial"/>
              <a:sym typeface="Arial"/>
            </a:endParaRPr>
          </a:p>
        </p:txBody>
      </p:sp>
      <p:sp>
        <p:nvSpPr>
          <p:cNvPr id="169" name="Google Shape;169;p20"/>
          <p:cNvSpPr/>
          <p:nvPr/>
        </p:nvSpPr>
        <p:spPr>
          <a:xfrm>
            <a:off x="1728262" y="1543050"/>
            <a:ext cx="761258"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Medium</a:t>
            </a:r>
            <a:endParaRPr b="0" i="0" sz="800" u="none" cap="none" strike="noStrike">
              <a:solidFill>
                <a:schemeClr val="dk1"/>
              </a:solidFill>
              <a:latin typeface="Arial"/>
              <a:ea typeface="Arial"/>
              <a:cs typeface="Arial"/>
              <a:sym typeface="Arial"/>
            </a:endParaRPr>
          </a:p>
        </p:txBody>
      </p:sp>
      <p:sp>
        <p:nvSpPr>
          <p:cNvPr id="170" name="Google Shape;170;p20"/>
          <p:cNvSpPr/>
          <p:nvPr/>
        </p:nvSpPr>
        <p:spPr>
          <a:xfrm>
            <a:off x="2654117" y="1481328"/>
            <a:ext cx="5733441" cy="2263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Product IDs and recall pages exist, but batch-level safety context is scattered.</a:t>
            </a:r>
            <a:endParaRPr b="0" i="0" sz="700" u="none" cap="none" strike="noStrike">
              <a:solidFill>
                <a:schemeClr val="dk1"/>
              </a:solidFill>
              <a:latin typeface="Arial"/>
              <a:ea typeface="Arial"/>
              <a:cs typeface="Arial"/>
              <a:sym typeface="Arial"/>
            </a:endParaRPr>
          </a:p>
        </p:txBody>
      </p:sp>
      <p:sp>
        <p:nvSpPr>
          <p:cNvPr id="171" name="Google Shape;171;p20"/>
          <p:cNvSpPr/>
          <p:nvPr/>
        </p:nvSpPr>
        <p:spPr>
          <a:xfrm>
            <a:off x="582946" y="1885950"/>
            <a:ext cx="7886910" cy="493776"/>
          </a:xfrm>
          <a:prstGeom prst="rect">
            <a:avLst/>
          </a:prstGeom>
          <a:solidFill>
            <a:srgbClr val="F1F7F2"/>
          </a:solidFill>
          <a:ln cap="flat" cmpd="sng" w="9525">
            <a:solidFill>
              <a:srgbClr val="D5E4D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172" name="Google Shape;172;p20"/>
          <p:cNvCxnSpPr/>
          <p:nvPr/>
        </p:nvCxnSpPr>
        <p:spPr>
          <a:xfrm>
            <a:off x="1645964" y="1885950"/>
            <a:ext cx="0" cy="493776"/>
          </a:xfrm>
          <a:prstGeom prst="straightConnector1">
            <a:avLst/>
          </a:prstGeom>
          <a:noFill/>
          <a:ln cap="flat" cmpd="sng" w="9525">
            <a:solidFill>
              <a:srgbClr val="D5E4D7"/>
            </a:solidFill>
            <a:prstDash val="solid"/>
            <a:round/>
            <a:headEnd len="sm" w="sm" type="none"/>
            <a:tailEnd len="sm" w="sm" type="none"/>
          </a:ln>
        </p:spPr>
      </p:cxnSp>
      <p:cxnSp>
        <p:nvCxnSpPr>
          <p:cNvPr id="173" name="Google Shape;173;p20"/>
          <p:cNvCxnSpPr/>
          <p:nvPr/>
        </p:nvCxnSpPr>
        <p:spPr>
          <a:xfrm>
            <a:off x="2571819" y="1885950"/>
            <a:ext cx="0" cy="493776"/>
          </a:xfrm>
          <a:prstGeom prst="straightConnector1">
            <a:avLst/>
          </a:prstGeom>
          <a:noFill/>
          <a:ln cap="flat" cmpd="sng" w="9525">
            <a:solidFill>
              <a:srgbClr val="D5E4D7"/>
            </a:solidFill>
            <a:prstDash val="solid"/>
            <a:round/>
            <a:headEnd len="sm" w="sm" type="none"/>
            <a:tailEnd len="sm" w="sm" type="none"/>
          </a:ln>
        </p:spPr>
      </p:cxnSp>
      <p:sp>
        <p:nvSpPr>
          <p:cNvPr id="174" name="Google Shape;174;p20"/>
          <p:cNvSpPr/>
          <p:nvPr/>
        </p:nvSpPr>
        <p:spPr>
          <a:xfrm>
            <a:off x="665244" y="2036826"/>
            <a:ext cx="898422"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1" i="0" lang="en" sz="800" u="none" cap="none" strike="noStrike">
                <a:solidFill>
                  <a:srgbClr val="173B2F"/>
                </a:solidFill>
                <a:latin typeface="Arial"/>
                <a:ea typeface="Arial"/>
                <a:cs typeface="Arial"/>
                <a:sym typeface="Arial"/>
              </a:rPr>
              <a:t>Accessible</a:t>
            </a:r>
            <a:endParaRPr b="0" i="0" sz="800" u="none" cap="none" strike="noStrike">
              <a:solidFill>
                <a:schemeClr val="dk1"/>
              </a:solidFill>
              <a:latin typeface="Arial"/>
              <a:ea typeface="Arial"/>
              <a:cs typeface="Arial"/>
              <a:sym typeface="Arial"/>
            </a:endParaRPr>
          </a:p>
        </p:txBody>
      </p:sp>
      <p:sp>
        <p:nvSpPr>
          <p:cNvPr id="175" name="Google Shape;175;p20"/>
          <p:cNvSpPr/>
          <p:nvPr/>
        </p:nvSpPr>
        <p:spPr>
          <a:xfrm>
            <a:off x="1728262" y="2036826"/>
            <a:ext cx="761258"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Mixed</a:t>
            </a:r>
            <a:endParaRPr b="0" i="0" sz="800" u="none" cap="none" strike="noStrike">
              <a:solidFill>
                <a:schemeClr val="dk1"/>
              </a:solidFill>
              <a:latin typeface="Arial"/>
              <a:ea typeface="Arial"/>
              <a:cs typeface="Arial"/>
              <a:sym typeface="Arial"/>
            </a:endParaRPr>
          </a:p>
        </p:txBody>
      </p:sp>
      <p:sp>
        <p:nvSpPr>
          <p:cNvPr id="176" name="Google Shape;176;p20"/>
          <p:cNvSpPr/>
          <p:nvPr/>
        </p:nvSpPr>
        <p:spPr>
          <a:xfrm>
            <a:off x="2654117" y="1975104"/>
            <a:ext cx="5733441" cy="2263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Public recall data is accessible; supplier and inspection context often requires separate systems or permissions.</a:t>
            </a:r>
            <a:endParaRPr b="0" i="0" sz="700" u="none" cap="none" strike="noStrike">
              <a:solidFill>
                <a:schemeClr val="dk1"/>
              </a:solidFill>
              <a:latin typeface="Arial"/>
              <a:ea typeface="Arial"/>
              <a:cs typeface="Arial"/>
              <a:sym typeface="Arial"/>
            </a:endParaRPr>
          </a:p>
        </p:txBody>
      </p:sp>
      <p:sp>
        <p:nvSpPr>
          <p:cNvPr id="177" name="Google Shape;177;p20"/>
          <p:cNvSpPr/>
          <p:nvPr/>
        </p:nvSpPr>
        <p:spPr>
          <a:xfrm>
            <a:off x="582946" y="2379726"/>
            <a:ext cx="7886910" cy="493776"/>
          </a:xfrm>
          <a:prstGeom prst="rect">
            <a:avLst/>
          </a:prstGeom>
          <a:solidFill>
            <a:srgbClr val="FFFFFF"/>
          </a:solidFill>
          <a:ln cap="flat" cmpd="sng" w="9525">
            <a:solidFill>
              <a:srgbClr val="D5E4D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178" name="Google Shape;178;p20"/>
          <p:cNvCxnSpPr/>
          <p:nvPr/>
        </p:nvCxnSpPr>
        <p:spPr>
          <a:xfrm>
            <a:off x="1645964" y="2379726"/>
            <a:ext cx="0" cy="493776"/>
          </a:xfrm>
          <a:prstGeom prst="straightConnector1">
            <a:avLst/>
          </a:prstGeom>
          <a:noFill/>
          <a:ln cap="flat" cmpd="sng" w="9525">
            <a:solidFill>
              <a:srgbClr val="D5E4D7"/>
            </a:solidFill>
            <a:prstDash val="solid"/>
            <a:round/>
            <a:headEnd len="sm" w="sm" type="none"/>
            <a:tailEnd len="sm" w="sm" type="none"/>
          </a:ln>
        </p:spPr>
      </p:cxnSp>
      <p:cxnSp>
        <p:nvCxnSpPr>
          <p:cNvPr id="179" name="Google Shape;179;p20"/>
          <p:cNvCxnSpPr/>
          <p:nvPr/>
        </p:nvCxnSpPr>
        <p:spPr>
          <a:xfrm>
            <a:off x="2571819" y="2379726"/>
            <a:ext cx="0" cy="493776"/>
          </a:xfrm>
          <a:prstGeom prst="straightConnector1">
            <a:avLst/>
          </a:prstGeom>
          <a:noFill/>
          <a:ln cap="flat" cmpd="sng" w="9525">
            <a:solidFill>
              <a:srgbClr val="D5E4D7"/>
            </a:solidFill>
            <a:prstDash val="solid"/>
            <a:round/>
            <a:headEnd len="sm" w="sm" type="none"/>
            <a:tailEnd len="sm" w="sm" type="none"/>
          </a:ln>
        </p:spPr>
      </p:cxnSp>
      <p:sp>
        <p:nvSpPr>
          <p:cNvPr id="180" name="Google Shape;180;p20"/>
          <p:cNvSpPr/>
          <p:nvPr/>
        </p:nvSpPr>
        <p:spPr>
          <a:xfrm>
            <a:off x="665244" y="2530602"/>
            <a:ext cx="898422"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1" i="0" lang="en" sz="800" u="none" cap="none" strike="noStrike">
                <a:solidFill>
                  <a:srgbClr val="173B2F"/>
                </a:solidFill>
                <a:latin typeface="Arial"/>
                <a:ea typeface="Arial"/>
                <a:cs typeface="Arial"/>
                <a:sym typeface="Arial"/>
              </a:rPr>
              <a:t>Interoperable</a:t>
            </a:r>
            <a:endParaRPr b="0" i="0" sz="800" u="none" cap="none" strike="noStrike">
              <a:solidFill>
                <a:schemeClr val="dk1"/>
              </a:solidFill>
              <a:latin typeface="Arial"/>
              <a:ea typeface="Arial"/>
              <a:cs typeface="Arial"/>
              <a:sym typeface="Arial"/>
            </a:endParaRPr>
          </a:p>
        </p:txBody>
      </p:sp>
      <p:sp>
        <p:nvSpPr>
          <p:cNvPr id="181" name="Google Shape;181;p20"/>
          <p:cNvSpPr/>
          <p:nvPr/>
        </p:nvSpPr>
        <p:spPr>
          <a:xfrm>
            <a:off x="1728262" y="2530602"/>
            <a:ext cx="761258"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Weak-Medium</a:t>
            </a:r>
            <a:endParaRPr b="0" i="0" sz="800" u="none" cap="none" strike="noStrike">
              <a:solidFill>
                <a:schemeClr val="dk1"/>
              </a:solidFill>
              <a:latin typeface="Arial"/>
              <a:ea typeface="Arial"/>
              <a:cs typeface="Arial"/>
              <a:sym typeface="Arial"/>
            </a:endParaRPr>
          </a:p>
        </p:txBody>
      </p:sp>
      <p:sp>
        <p:nvSpPr>
          <p:cNvPr id="182" name="Google Shape;182;p20"/>
          <p:cNvSpPr/>
          <p:nvPr/>
        </p:nvSpPr>
        <p:spPr>
          <a:xfrm>
            <a:off x="2654117" y="2468880"/>
            <a:ext cx="5733441" cy="2263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GS1 gives a strong identity pattern, but recall, inspection, and supplier fields use different schemas.</a:t>
            </a:r>
            <a:endParaRPr b="0" i="0" sz="700" u="none" cap="none" strike="noStrike">
              <a:solidFill>
                <a:schemeClr val="dk1"/>
              </a:solidFill>
              <a:latin typeface="Arial"/>
              <a:ea typeface="Arial"/>
              <a:cs typeface="Arial"/>
              <a:sym typeface="Arial"/>
            </a:endParaRPr>
          </a:p>
        </p:txBody>
      </p:sp>
      <p:sp>
        <p:nvSpPr>
          <p:cNvPr id="183" name="Google Shape;183;p20"/>
          <p:cNvSpPr/>
          <p:nvPr/>
        </p:nvSpPr>
        <p:spPr>
          <a:xfrm>
            <a:off x="582946" y="2873502"/>
            <a:ext cx="7886910" cy="493776"/>
          </a:xfrm>
          <a:prstGeom prst="rect">
            <a:avLst/>
          </a:prstGeom>
          <a:solidFill>
            <a:srgbClr val="F1F7F2"/>
          </a:solidFill>
          <a:ln cap="flat" cmpd="sng" w="9525">
            <a:solidFill>
              <a:srgbClr val="D5E4D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184" name="Google Shape;184;p20"/>
          <p:cNvCxnSpPr/>
          <p:nvPr/>
        </p:nvCxnSpPr>
        <p:spPr>
          <a:xfrm>
            <a:off x="1645964" y="2873502"/>
            <a:ext cx="0" cy="493776"/>
          </a:xfrm>
          <a:prstGeom prst="straightConnector1">
            <a:avLst/>
          </a:prstGeom>
          <a:noFill/>
          <a:ln cap="flat" cmpd="sng" w="9525">
            <a:solidFill>
              <a:srgbClr val="D5E4D7"/>
            </a:solidFill>
            <a:prstDash val="solid"/>
            <a:round/>
            <a:headEnd len="sm" w="sm" type="none"/>
            <a:tailEnd len="sm" w="sm" type="none"/>
          </a:ln>
        </p:spPr>
      </p:cxnSp>
      <p:cxnSp>
        <p:nvCxnSpPr>
          <p:cNvPr id="185" name="Google Shape;185;p20"/>
          <p:cNvCxnSpPr/>
          <p:nvPr/>
        </p:nvCxnSpPr>
        <p:spPr>
          <a:xfrm>
            <a:off x="2571819" y="2873502"/>
            <a:ext cx="0" cy="493776"/>
          </a:xfrm>
          <a:prstGeom prst="straightConnector1">
            <a:avLst/>
          </a:prstGeom>
          <a:noFill/>
          <a:ln cap="flat" cmpd="sng" w="9525">
            <a:solidFill>
              <a:srgbClr val="D5E4D7"/>
            </a:solidFill>
            <a:prstDash val="solid"/>
            <a:round/>
            <a:headEnd len="sm" w="sm" type="none"/>
            <a:tailEnd len="sm" w="sm" type="none"/>
          </a:ln>
        </p:spPr>
      </p:cxnSp>
      <p:sp>
        <p:nvSpPr>
          <p:cNvPr id="186" name="Google Shape;186;p20"/>
          <p:cNvSpPr/>
          <p:nvPr/>
        </p:nvSpPr>
        <p:spPr>
          <a:xfrm>
            <a:off x="665244" y="3024378"/>
            <a:ext cx="898422"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1" i="0" lang="en" sz="800" u="none" cap="none" strike="noStrike">
                <a:solidFill>
                  <a:srgbClr val="173B2F"/>
                </a:solidFill>
                <a:latin typeface="Arial"/>
                <a:ea typeface="Arial"/>
                <a:cs typeface="Arial"/>
                <a:sym typeface="Arial"/>
              </a:rPr>
              <a:t>Reusable</a:t>
            </a:r>
            <a:endParaRPr b="0" i="0" sz="800" u="none" cap="none" strike="noStrike">
              <a:solidFill>
                <a:schemeClr val="dk1"/>
              </a:solidFill>
              <a:latin typeface="Arial"/>
              <a:ea typeface="Arial"/>
              <a:cs typeface="Arial"/>
              <a:sym typeface="Arial"/>
            </a:endParaRPr>
          </a:p>
        </p:txBody>
      </p:sp>
      <p:sp>
        <p:nvSpPr>
          <p:cNvPr id="187" name="Google Shape;187;p20"/>
          <p:cNvSpPr/>
          <p:nvPr/>
        </p:nvSpPr>
        <p:spPr>
          <a:xfrm>
            <a:off x="1728262" y="3024378"/>
            <a:ext cx="761258"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Weak</a:t>
            </a:r>
            <a:endParaRPr b="0" i="0" sz="800" u="none" cap="none" strike="noStrike">
              <a:solidFill>
                <a:schemeClr val="dk1"/>
              </a:solidFill>
              <a:latin typeface="Arial"/>
              <a:ea typeface="Arial"/>
              <a:cs typeface="Arial"/>
              <a:sym typeface="Arial"/>
            </a:endParaRPr>
          </a:p>
        </p:txBody>
      </p:sp>
      <p:sp>
        <p:nvSpPr>
          <p:cNvPr id="188" name="Google Shape;188;p20"/>
          <p:cNvSpPr/>
          <p:nvPr/>
        </p:nvSpPr>
        <p:spPr>
          <a:xfrm>
            <a:off x="2654117" y="2962656"/>
            <a:ext cx="5733441" cy="2263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Licensing, metadata, freshness, and field definitions are uneven across sources.</a:t>
            </a:r>
            <a:endParaRPr b="0" i="0" sz="700" u="none" cap="none" strike="noStrike">
              <a:solidFill>
                <a:schemeClr val="dk1"/>
              </a:solidFill>
              <a:latin typeface="Arial"/>
              <a:ea typeface="Arial"/>
              <a:cs typeface="Arial"/>
              <a:sym typeface="Arial"/>
            </a:endParaRPr>
          </a:p>
        </p:txBody>
      </p:sp>
      <p:sp>
        <p:nvSpPr>
          <p:cNvPr id="189" name="Google Shape;189;p20"/>
          <p:cNvSpPr/>
          <p:nvPr/>
        </p:nvSpPr>
        <p:spPr>
          <a:xfrm>
            <a:off x="685818" y="3737610"/>
            <a:ext cx="205745" cy="205740"/>
          </a:xfrm>
          <a:prstGeom prst="ellipse">
            <a:avLst/>
          </a:prstGeom>
          <a:solidFill>
            <a:srgbClr val="1F7A4D"/>
          </a:solidFill>
          <a:ln cap="flat" cmpd="sng" w="1270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p20"/>
          <p:cNvSpPr/>
          <p:nvPr/>
        </p:nvSpPr>
        <p:spPr>
          <a:xfrm>
            <a:off x="723538" y="3761613"/>
            <a:ext cx="123447"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i="0" lang="en" sz="800" u="none" cap="none" strike="noStrike">
                <a:solidFill>
                  <a:srgbClr val="FFFFFF"/>
                </a:solidFill>
                <a:latin typeface="Arial"/>
                <a:ea typeface="Arial"/>
                <a:cs typeface="Arial"/>
                <a:sym typeface="Arial"/>
              </a:rPr>
              <a:t>✓</a:t>
            </a:r>
            <a:endParaRPr b="0" i="0" sz="800" u="none" cap="none" strike="noStrike">
              <a:solidFill>
                <a:schemeClr val="dk1"/>
              </a:solidFill>
              <a:latin typeface="Arial"/>
              <a:ea typeface="Arial"/>
              <a:cs typeface="Arial"/>
              <a:sym typeface="Arial"/>
            </a:endParaRPr>
          </a:p>
        </p:txBody>
      </p:sp>
      <p:sp>
        <p:nvSpPr>
          <p:cNvPr id="191" name="Google Shape;191;p20"/>
          <p:cNvSpPr/>
          <p:nvPr/>
        </p:nvSpPr>
        <p:spPr>
          <a:xfrm>
            <a:off x="973862" y="3730752"/>
            <a:ext cx="2057455"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Improvement target</a:t>
            </a:r>
            <a:endParaRPr b="0" i="0" sz="900" u="none" cap="none" strike="noStrike">
              <a:solidFill>
                <a:schemeClr val="dk1"/>
              </a:solidFill>
              <a:latin typeface="Arial"/>
              <a:ea typeface="Arial"/>
              <a:cs typeface="Arial"/>
              <a:sym typeface="Arial"/>
            </a:endParaRPr>
          </a:p>
        </p:txBody>
      </p:sp>
      <p:sp>
        <p:nvSpPr>
          <p:cNvPr id="192" name="Google Shape;192;p20"/>
          <p:cNvSpPr/>
          <p:nvPr/>
        </p:nvSpPr>
        <p:spPr>
          <a:xfrm>
            <a:off x="973862" y="3902202"/>
            <a:ext cx="243465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Keep source traceability while standardizing field names, identifiers, timestamps, and access views.</a:t>
            </a:r>
            <a:endParaRPr b="0" i="0" sz="700" u="none" cap="none" strike="noStrike">
              <a:solidFill>
                <a:schemeClr val="dk1"/>
              </a:solidFill>
              <a:latin typeface="Arial"/>
              <a:ea typeface="Arial"/>
              <a:cs typeface="Arial"/>
              <a:sym typeface="Arial"/>
            </a:endParaRPr>
          </a:p>
        </p:txBody>
      </p:sp>
      <p:sp>
        <p:nvSpPr>
          <p:cNvPr id="193" name="Google Shape;193;p20"/>
          <p:cNvSpPr/>
          <p:nvPr/>
        </p:nvSpPr>
        <p:spPr>
          <a:xfrm>
            <a:off x="4663564" y="3737610"/>
            <a:ext cx="205745" cy="205740"/>
          </a:xfrm>
          <a:prstGeom prst="ellipse">
            <a:avLst/>
          </a:prstGeom>
          <a:solidFill>
            <a:srgbClr val="3B6FB6"/>
          </a:solidFill>
          <a:ln cap="flat" cmpd="sng" w="12700">
            <a:solidFill>
              <a:srgbClr val="3B6FB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4" name="Google Shape;194;p20"/>
          <p:cNvSpPr/>
          <p:nvPr/>
        </p:nvSpPr>
        <p:spPr>
          <a:xfrm>
            <a:off x="4701284" y="3761613"/>
            <a:ext cx="123447"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i="0" lang="en" sz="800" u="none" cap="none" strike="noStrike">
                <a:solidFill>
                  <a:srgbClr val="FFFFFF"/>
                </a:solidFill>
                <a:latin typeface="Arial"/>
                <a:ea typeface="Arial"/>
                <a:cs typeface="Arial"/>
                <a:sym typeface="Arial"/>
              </a:rPr>
              <a:t>✓</a:t>
            </a:r>
            <a:endParaRPr b="0" i="0" sz="800" u="none" cap="none" strike="noStrike">
              <a:solidFill>
                <a:schemeClr val="dk1"/>
              </a:solidFill>
              <a:latin typeface="Arial"/>
              <a:ea typeface="Arial"/>
              <a:cs typeface="Arial"/>
              <a:sym typeface="Arial"/>
            </a:endParaRPr>
          </a:p>
        </p:txBody>
      </p:sp>
      <p:sp>
        <p:nvSpPr>
          <p:cNvPr id="195" name="Google Shape;195;p20"/>
          <p:cNvSpPr/>
          <p:nvPr/>
        </p:nvSpPr>
        <p:spPr>
          <a:xfrm>
            <a:off x="4951608" y="3730752"/>
            <a:ext cx="2057455"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Course focus</a:t>
            </a:r>
            <a:endParaRPr b="0" i="0" sz="900" u="none" cap="none" strike="noStrike">
              <a:solidFill>
                <a:schemeClr val="dk1"/>
              </a:solidFill>
              <a:latin typeface="Arial"/>
              <a:ea typeface="Arial"/>
              <a:cs typeface="Arial"/>
              <a:sym typeface="Arial"/>
            </a:endParaRPr>
          </a:p>
        </p:txBody>
      </p:sp>
      <p:sp>
        <p:nvSpPr>
          <p:cNvPr id="196" name="Google Shape;196;p20"/>
          <p:cNvSpPr/>
          <p:nvPr/>
        </p:nvSpPr>
        <p:spPr>
          <a:xfrm>
            <a:off x="4951608" y="3902202"/>
            <a:ext cx="243465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Portability is improved through range, scope, frequency, and interoperability of information access.</a:t>
            </a:r>
            <a:endParaRPr b="0" i="0" sz="700" u="none" cap="none" strike="noStrike">
              <a:solidFill>
                <a:schemeClr val="dk1"/>
              </a:solidFill>
              <a:latin typeface="Arial"/>
              <a:ea typeface="Arial"/>
              <a:cs typeface="Arial"/>
              <a:sym typeface="Arial"/>
            </a:endParaRPr>
          </a:p>
        </p:txBody>
      </p:sp>
      <p:sp>
        <p:nvSpPr>
          <p:cNvPr id="197" name="Google Shape;197;p20"/>
          <p:cNvSpPr txBox="1"/>
          <p:nvPr>
            <p:ph idx="4294967295"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6A7A70"/>
                </a:solidFill>
                <a:latin typeface="Arial"/>
                <a:ea typeface="Arial"/>
                <a:cs typeface="Arial"/>
                <a:sym typeface="Arial"/>
              </a:rPr>
              <a:t>‹#›</a:t>
            </a:fld>
            <a:endParaRPr b="0" i="0" sz="600" u="none" cap="none" strike="noStrike">
              <a:solidFill>
                <a:srgbClr val="6A7A7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p:nvPr/>
        </p:nvSpPr>
        <p:spPr>
          <a:xfrm>
            <a:off x="480073" y="288036"/>
            <a:ext cx="6240946"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900"/>
              <a:buFont typeface="Play"/>
              <a:buNone/>
            </a:pPr>
            <a:r>
              <a:rPr b="1" i="0" lang="en" sz="1900" u="none" cap="none" strike="noStrike">
                <a:solidFill>
                  <a:srgbClr val="173B2F"/>
                </a:solidFill>
                <a:latin typeface="Play"/>
                <a:ea typeface="Play"/>
                <a:cs typeface="Play"/>
                <a:sym typeface="Play"/>
              </a:rPr>
              <a:t>Deficiencies that drive the redesign</a:t>
            </a:r>
            <a:endParaRPr b="0" i="0" sz="1900" u="none" cap="none" strike="noStrike">
              <a:solidFill>
                <a:schemeClr val="dk1"/>
              </a:solidFill>
              <a:latin typeface="Arial"/>
              <a:ea typeface="Arial"/>
              <a:cs typeface="Arial"/>
              <a:sym typeface="Arial"/>
            </a:endParaRPr>
          </a:p>
        </p:txBody>
      </p:sp>
      <p:sp>
        <p:nvSpPr>
          <p:cNvPr id="204" name="Google Shape;204;p21"/>
          <p:cNvSpPr/>
          <p:nvPr/>
        </p:nvSpPr>
        <p:spPr>
          <a:xfrm>
            <a:off x="493789" y="630936"/>
            <a:ext cx="5760874"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The design choices come from the portability gaps found in prior assignments.</a:t>
            </a:r>
            <a:endParaRPr b="0" i="0" sz="800" u="none" cap="none" strike="noStrike">
              <a:solidFill>
                <a:schemeClr val="dk1"/>
              </a:solidFill>
              <a:latin typeface="Arial"/>
              <a:ea typeface="Arial"/>
              <a:cs typeface="Arial"/>
              <a:sym typeface="Arial"/>
            </a:endParaRPr>
          </a:p>
        </p:txBody>
      </p:sp>
      <p:sp>
        <p:nvSpPr>
          <p:cNvPr id="205" name="Google Shape;205;p21"/>
          <p:cNvSpPr/>
          <p:nvPr/>
        </p:nvSpPr>
        <p:spPr>
          <a:xfrm>
            <a:off x="617236" y="1131570"/>
            <a:ext cx="3497673" cy="1028700"/>
          </a:xfrm>
          <a:prstGeom prst="roundRect">
            <a:avLst>
              <a:gd fmla="val 8000"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6" name="Google Shape;206;p21"/>
          <p:cNvSpPr/>
          <p:nvPr/>
        </p:nvSpPr>
        <p:spPr>
          <a:xfrm>
            <a:off x="617236" y="1131570"/>
            <a:ext cx="109731" cy="1028700"/>
          </a:xfrm>
          <a:prstGeom prst="rect">
            <a:avLst/>
          </a:prstGeom>
          <a:solidFill>
            <a:srgbClr val="C75045"/>
          </a:solidFill>
          <a:ln cap="flat" cmpd="sng" w="12700">
            <a:solidFill>
              <a:srgbClr val="C7504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21"/>
          <p:cNvSpPr/>
          <p:nvPr/>
        </p:nvSpPr>
        <p:spPr>
          <a:xfrm>
            <a:off x="857273" y="1296162"/>
            <a:ext cx="3086182"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100"/>
              <a:buFont typeface="Arial"/>
              <a:buNone/>
            </a:pPr>
            <a:r>
              <a:rPr b="1" i="0" lang="en" sz="1100" u="none" cap="none" strike="noStrike">
                <a:solidFill>
                  <a:srgbClr val="173B2F"/>
                </a:solidFill>
                <a:latin typeface="Arial"/>
                <a:ea typeface="Arial"/>
                <a:cs typeface="Arial"/>
                <a:sym typeface="Arial"/>
              </a:rPr>
              <a:t>No single record</a:t>
            </a:r>
            <a:endParaRPr b="0" i="0" sz="1100" u="none" cap="none" strike="noStrike">
              <a:solidFill>
                <a:schemeClr val="dk1"/>
              </a:solidFill>
              <a:latin typeface="Arial"/>
              <a:ea typeface="Arial"/>
              <a:cs typeface="Arial"/>
              <a:sym typeface="Arial"/>
            </a:endParaRPr>
          </a:p>
        </p:txBody>
      </p:sp>
      <p:sp>
        <p:nvSpPr>
          <p:cNvPr id="208" name="Google Shape;208;p21"/>
          <p:cNvSpPr/>
          <p:nvPr/>
        </p:nvSpPr>
        <p:spPr>
          <a:xfrm>
            <a:off x="857273" y="1556766"/>
            <a:ext cx="298331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A consumer cannot easily see identity, recall status, origin, and handling context together.</a:t>
            </a:r>
            <a:endParaRPr b="0" i="0" sz="800" u="none" cap="none" strike="noStrike">
              <a:solidFill>
                <a:schemeClr val="dk1"/>
              </a:solidFill>
              <a:latin typeface="Arial"/>
              <a:ea typeface="Arial"/>
              <a:cs typeface="Arial"/>
              <a:sym typeface="Arial"/>
            </a:endParaRPr>
          </a:p>
        </p:txBody>
      </p:sp>
      <p:sp>
        <p:nvSpPr>
          <p:cNvPr id="209" name="Google Shape;209;p21"/>
          <p:cNvSpPr/>
          <p:nvPr/>
        </p:nvSpPr>
        <p:spPr>
          <a:xfrm>
            <a:off x="4629273" y="1131570"/>
            <a:ext cx="3497673" cy="1028700"/>
          </a:xfrm>
          <a:prstGeom prst="roundRect">
            <a:avLst>
              <a:gd fmla="val 8000"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21"/>
          <p:cNvSpPr/>
          <p:nvPr/>
        </p:nvSpPr>
        <p:spPr>
          <a:xfrm>
            <a:off x="4629273" y="1131570"/>
            <a:ext cx="109731" cy="1028700"/>
          </a:xfrm>
          <a:prstGeom prst="rect">
            <a:avLst/>
          </a:prstGeom>
          <a:solidFill>
            <a:srgbClr val="E28B3B"/>
          </a:solidFill>
          <a:ln cap="flat" cmpd="sng" w="12700">
            <a:solidFill>
              <a:srgbClr val="E28B3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1" name="Google Shape;211;p21"/>
          <p:cNvSpPr/>
          <p:nvPr/>
        </p:nvSpPr>
        <p:spPr>
          <a:xfrm>
            <a:off x="4869310" y="1296162"/>
            <a:ext cx="3086182"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100"/>
              <a:buFont typeface="Arial"/>
              <a:buNone/>
            </a:pPr>
            <a:r>
              <a:rPr b="1" i="0" lang="en" sz="1100" u="none" cap="none" strike="noStrike">
                <a:solidFill>
                  <a:srgbClr val="173B2F"/>
                </a:solidFill>
                <a:latin typeface="Arial"/>
                <a:ea typeface="Arial"/>
                <a:cs typeface="Arial"/>
                <a:sym typeface="Arial"/>
              </a:rPr>
              <a:t>Different update rhythms</a:t>
            </a:r>
            <a:endParaRPr b="0" i="0" sz="1100" u="none" cap="none" strike="noStrike">
              <a:solidFill>
                <a:schemeClr val="dk1"/>
              </a:solidFill>
              <a:latin typeface="Arial"/>
              <a:ea typeface="Arial"/>
              <a:cs typeface="Arial"/>
              <a:sym typeface="Arial"/>
            </a:endParaRPr>
          </a:p>
        </p:txBody>
      </p:sp>
      <p:sp>
        <p:nvSpPr>
          <p:cNvPr id="212" name="Google Shape;212;p21"/>
          <p:cNvSpPr/>
          <p:nvPr/>
        </p:nvSpPr>
        <p:spPr>
          <a:xfrm>
            <a:off x="4869310" y="1556766"/>
            <a:ext cx="298331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Recall feeds, supplier data, and inspection records change at different frequencies.</a:t>
            </a:r>
            <a:endParaRPr b="0" i="0" sz="800" u="none" cap="none" strike="noStrike">
              <a:solidFill>
                <a:schemeClr val="dk1"/>
              </a:solidFill>
              <a:latin typeface="Arial"/>
              <a:ea typeface="Arial"/>
              <a:cs typeface="Arial"/>
              <a:sym typeface="Arial"/>
            </a:endParaRPr>
          </a:p>
        </p:txBody>
      </p:sp>
      <p:sp>
        <p:nvSpPr>
          <p:cNvPr id="213" name="Google Shape;213;p21"/>
          <p:cNvSpPr/>
          <p:nvPr/>
        </p:nvSpPr>
        <p:spPr>
          <a:xfrm>
            <a:off x="617236" y="2743200"/>
            <a:ext cx="3497673" cy="1028700"/>
          </a:xfrm>
          <a:prstGeom prst="roundRect">
            <a:avLst>
              <a:gd fmla="val 8000"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1"/>
          <p:cNvSpPr/>
          <p:nvPr/>
        </p:nvSpPr>
        <p:spPr>
          <a:xfrm>
            <a:off x="617236" y="2743200"/>
            <a:ext cx="109731" cy="1028700"/>
          </a:xfrm>
          <a:prstGeom prst="rect">
            <a:avLst/>
          </a:prstGeom>
          <a:solidFill>
            <a:srgbClr val="3B6FB6"/>
          </a:solidFill>
          <a:ln cap="flat" cmpd="sng" w="12700">
            <a:solidFill>
              <a:srgbClr val="3B6FB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21"/>
          <p:cNvSpPr/>
          <p:nvPr/>
        </p:nvSpPr>
        <p:spPr>
          <a:xfrm>
            <a:off x="857273" y="2907792"/>
            <a:ext cx="3086182"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100"/>
              <a:buFont typeface="Arial"/>
              <a:buNone/>
            </a:pPr>
            <a:r>
              <a:rPr b="1" i="0" lang="en" sz="1100" u="none" cap="none" strike="noStrike">
                <a:solidFill>
                  <a:srgbClr val="173B2F"/>
                </a:solidFill>
                <a:latin typeface="Arial"/>
                <a:ea typeface="Arial"/>
                <a:cs typeface="Arial"/>
                <a:sym typeface="Arial"/>
              </a:rPr>
              <a:t>Mixed audience needs</a:t>
            </a:r>
            <a:endParaRPr b="0" i="0" sz="1100" u="none" cap="none" strike="noStrike">
              <a:solidFill>
                <a:schemeClr val="dk1"/>
              </a:solidFill>
              <a:latin typeface="Arial"/>
              <a:ea typeface="Arial"/>
              <a:cs typeface="Arial"/>
              <a:sym typeface="Arial"/>
            </a:endParaRPr>
          </a:p>
        </p:txBody>
      </p:sp>
      <p:sp>
        <p:nvSpPr>
          <p:cNvPr id="216" name="Google Shape;216;p21"/>
          <p:cNvSpPr/>
          <p:nvPr/>
        </p:nvSpPr>
        <p:spPr>
          <a:xfrm>
            <a:off x="857273" y="3168396"/>
            <a:ext cx="298331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Consumer simplicity conflicts with regulator detail unless access views are separated.</a:t>
            </a:r>
            <a:endParaRPr b="0" i="0" sz="800" u="none" cap="none" strike="noStrike">
              <a:solidFill>
                <a:schemeClr val="dk1"/>
              </a:solidFill>
              <a:latin typeface="Arial"/>
              <a:ea typeface="Arial"/>
              <a:cs typeface="Arial"/>
              <a:sym typeface="Arial"/>
            </a:endParaRPr>
          </a:p>
        </p:txBody>
      </p:sp>
      <p:sp>
        <p:nvSpPr>
          <p:cNvPr id="217" name="Google Shape;217;p21"/>
          <p:cNvSpPr/>
          <p:nvPr/>
        </p:nvSpPr>
        <p:spPr>
          <a:xfrm>
            <a:off x="4629273" y="2743200"/>
            <a:ext cx="3497673" cy="1028700"/>
          </a:xfrm>
          <a:prstGeom prst="roundRect">
            <a:avLst>
              <a:gd fmla="val 8000"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 name="Google Shape;218;p21"/>
          <p:cNvSpPr/>
          <p:nvPr/>
        </p:nvSpPr>
        <p:spPr>
          <a:xfrm>
            <a:off x="4629273" y="2743200"/>
            <a:ext cx="109731" cy="1028700"/>
          </a:xfrm>
          <a:prstGeom prst="rect">
            <a:avLst/>
          </a:prstGeom>
          <a:solidFill>
            <a:srgbClr val="1F7A4D"/>
          </a:solidFill>
          <a:ln cap="flat" cmpd="sng" w="1270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9" name="Google Shape;219;p21"/>
          <p:cNvSpPr/>
          <p:nvPr/>
        </p:nvSpPr>
        <p:spPr>
          <a:xfrm>
            <a:off x="4869310" y="2907792"/>
            <a:ext cx="3086182" cy="1577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100"/>
              <a:buFont typeface="Arial"/>
              <a:buNone/>
            </a:pPr>
            <a:r>
              <a:rPr b="1" i="0" lang="en" sz="1100" u="none" cap="none" strike="noStrike">
                <a:solidFill>
                  <a:srgbClr val="173B2F"/>
                </a:solidFill>
                <a:latin typeface="Arial"/>
                <a:ea typeface="Arial"/>
                <a:cs typeface="Arial"/>
                <a:sym typeface="Arial"/>
              </a:rPr>
              <a:t>Weak quality signals</a:t>
            </a:r>
            <a:endParaRPr b="0" i="0" sz="1100" u="none" cap="none" strike="noStrike">
              <a:solidFill>
                <a:schemeClr val="dk1"/>
              </a:solidFill>
              <a:latin typeface="Arial"/>
              <a:ea typeface="Arial"/>
              <a:cs typeface="Arial"/>
              <a:sym typeface="Arial"/>
            </a:endParaRPr>
          </a:p>
        </p:txBody>
      </p:sp>
      <p:sp>
        <p:nvSpPr>
          <p:cNvPr id="220" name="Google Shape;220;p21"/>
          <p:cNvSpPr/>
          <p:nvPr/>
        </p:nvSpPr>
        <p:spPr>
          <a:xfrm>
            <a:off x="4869310" y="3168396"/>
            <a:ext cx="2983310"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A stale or incomplete record can look trustworthy unless freshness and validation are explicit.</a:t>
            </a:r>
            <a:endParaRPr b="0" i="0" sz="800" u="none" cap="none" strike="noStrike">
              <a:solidFill>
                <a:schemeClr val="dk1"/>
              </a:solidFill>
              <a:latin typeface="Arial"/>
              <a:ea typeface="Arial"/>
              <a:cs typeface="Arial"/>
              <a:sym typeface="Arial"/>
            </a:endParaRPr>
          </a:p>
        </p:txBody>
      </p:sp>
      <p:sp>
        <p:nvSpPr>
          <p:cNvPr id="221" name="Google Shape;221;p21"/>
          <p:cNvSpPr txBox="1"/>
          <p:nvPr>
            <p:ph idx="4294967295"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6A7A70"/>
                </a:solidFill>
                <a:latin typeface="Arial"/>
                <a:ea typeface="Arial"/>
                <a:cs typeface="Arial"/>
                <a:sym typeface="Arial"/>
              </a:rPr>
              <a:t>‹#›</a:t>
            </a:fld>
            <a:endParaRPr b="0" i="0" sz="600" u="none" cap="none" strike="noStrike">
              <a:solidFill>
                <a:srgbClr val="6A7A7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2"/>
          <p:cNvSpPr/>
          <p:nvPr/>
        </p:nvSpPr>
        <p:spPr>
          <a:xfrm>
            <a:off x="480073" y="288036"/>
            <a:ext cx="6240946"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900"/>
              <a:buFont typeface="Play"/>
              <a:buNone/>
            </a:pPr>
            <a:r>
              <a:rPr b="1" i="0" lang="en" sz="1900" u="none" cap="none" strike="noStrike">
                <a:solidFill>
                  <a:srgbClr val="173B2F"/>
                </a:solidFill>
                <a:latin typeface="Play"/>
                <a:ea typeface="Play"/>
                <a:cs typeface="Play"/>
                <a:sym typeface="Play"/>
              </a:rPr>
              <a:t>New portable information structure</a:t>
            </a:r>
            <a:endParaRPr b="0" i="0" sz="1900" u="none" cap="none" strike="noStrike">
              <a:solidFill>
                <a:schemeClr val="dk1"/>
              </a:solidFill>
              <a:latin typeface="Arial"/>
              <a:ea typeface="Arial"/>
              <a:cs typeface="Arial"/>
              <a:sym typeface="Arial"/>
            </a:endParaRPr>
          </a:p>
        </p:txBody>
      </p:sp>
      <p:sp>
        <p:nvSpPr>
          <p:cNvPr id="228" name="Google Shape;228;p22"/>
          <p:cNvSpPr/>
          <p:nvPr/>
        </p:nvSpPr>
        <p:spPr>
          <a:xfrm>
            <a:off x="493789" y="630936"/>
            <a:ext cx="5760874"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A hierarchical JSON schema separates stable identity from dynamic safety and access metadata.</a:t>
            </a:r>
            <a:endParaRPr b="0" i="0" sz="800" u="none" cap="none" strike="noStrike">
              <a:solidFill>
                <a:schemeClr val="dk1"/>
              </a:solidFill>
              <a:latin typeface="Arial"/>
              <a:ea typeface="Arial"/>
              <a:cs typeface="Arial"/>
              <a:sym typeface="Arial"/>
            </a:endParaRPr>
          </a:p>
        </p:txBody>
      </p:sp>
      <p:sp>
        <p:nvSpPr>
          <p:cNvPr id="229" name="Google Shape;229;p22"/>
          <p:cNvSpPr/>
          <p:nvPr/>
        </p:nvSpPr>
        <p:spPr>
          <a:xfrm>
            <a:off x="582946" y="994410"/>
            <a:ext cx="4354946" cy="3257550"/>
          </a:xfrm>
          <a:prstGeom prst="roundRect">
            <a:avLst>
              <a:gd fmla="val 1684" name="adj"/>
            </a:avLst>
          </a:prstGeom>
          <a:solidFill>
            <a:srgbClr val="172B24"/>
          </a:solidFill>
          <a:ln cap="flat" cmpd="sng" w="12700">
            <a:solidFill>
              <a:srgbClr val="172B2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0" name="Google Shape;230;p22"/>
          <p:cNvSpPr/>
          <p:nvPr/>
        </p:nvSpPr>
        <p:spPr>
          <a:xfrm>
            <a:off x="740684" y="1165860"/>
            <a:ext cx="4018895" cy="2894076"/>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E9FFF0"/>
              </a:buClr>
              <a:buSzPts val="600"/>
              <a:buFont typeface="Consolas"/>
              <a:buNone/>
            </a:pPr>
            <a:r>
              <a:rPr b="0" i="0" lang="en" sz="600" u="none" cap="none" strike="noStrike">
                <a:solidFill>
                  <a:srgbClr val="E9FFF0"/>
                </a:solidFill>
                <a:latin typeface="Consolas"/>
                <a:ea typeface="Consolas"/>
                <a:cs typeface="Consolas"/>
                <a:sym typeface="Consolas"/>
              </a:rPr>
              <a:t>{</a:t>
            </a:r>
            <a:endParaRPr b="0" i="0" sz="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E9FFF0"/>
              </a:buClr>
              <a:buSzPts val="600"/>
              <a:buFont typeface="Consolas"/>
              <a:buNone/>
            </a:pPr>
            <a:r>
              <a:rPr b="0" i="0" lang="en" sz="600" u="none" cap="none" strike="noStrike">
                <a:solidFill>
                  <a:srgbClr val="E9FFF0"/>
                </a:solidFill>
                <a:latin typeface="Consolas"/>
                <a:ea typeface="Consolas"/>
                <a:cs typeface="Consolas"/>
                <a:sym typeface="Consolas"/>
              </a:rPr>
              <a:t>  "product_identity": { "gtin": "00012345678905", "name": "Organic Spinach" },</a:t>
            </a:r>
            <a:endParaRPr b="0" i="0" sz="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E9FFF0"/>
              </a:buClr>
              <a:buSzPts val="600"/>
              <a:buFont typeface="Consolas"/>
              <a:buNone/>
            </a:pPr>
            <a:r>
              <a:rPr b="0" i="0" lang="en" sz="600" u="none" cap="none" strike="noStrike">
                <a:solidFill>
                  <a:srgbClr val="E9FFF0"/>
                </a:solidFill>
                <a:latin typeface="Consolas"/>
                <a:ea typeface="Consolas"/>
                <a:cs typeface="Consolas"/>
                <a:sym typeface="Consolas"/>
              </a:rPr>
              <a:t>  "batch_identity": { "lot_number": "SP-2026-05-18", "pack_date": "2026-05-18" },</a:t>
            </a:r>
            <a:endParaRPr b="0" i="0" sz="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E9FFF0"/>
              </a:buClr>
              <a:buSzPts val="600"/>
              <a:buFont typeface="Consolas"/>
              <a:buNone/>
            </a:pPr>
            <a:r>
              <a:rPr b="0" i="0" lang="en" sz="600" u="none" cap="none" strike="noStrike">
                <a:solidFill>
                  <a:srgbClr val="E9FFF0"/>
                </a:solidFill>
                <a:latin typeface="Consolas"/>
                <a:ea typeface="Consolas"/>
                <a:cs typeface="Consolas"/>
                <a:sym typeface="Consolas"/>
              </a:rPr>
              <a:t>  "safety_and_quality_information": { "temperature_status": "pass", "inspection_score": 96 },</a:t>
            </a:r>
            <a:endParaRPr b="0" i="0" sz="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E9FFF0"/>
              </a:buClr>
              <a:buSzPts val="600"/>
              <a:buFont typeface="Consolas"/>
              <a:buNone/>
            </a:pPr>
            <a:r>
              <a:rPr b="0" i="0" lang="en" sz="600" u="none" cap="none" strike="noStrike">
                <a:solidFill>
                  <a:srgbClr val="E9FFF0"/>
                </a:solidFill>
                <a:latin typeface="Consolas"/>
                <a:ea typeface="Consolas"/>
                <a:cs typeface="Consolas"/>
                <a:sym typeface="Consolas"/>
              </a:rPr>
              <a:t>  "recall_information": { "recall_status": "none", "last_recall_check": "2026-05-29" },</a:t>
            </a:r>
            <a:endParaRPr b="0" i="0" sz="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E9FFF0"/>
              </a:buClr>
              <a:buSzPts val="600"/>
              <a:buFont typeface="Consolas"/>
              <a:buNone/>
            </a:pPr>
            <a:r>
              <a:rPr b="0" i="0" lang="en" sz="600" u="none" cap="none" strike="noStrike">
                <a:solidFill>
                  <a:srgbClr val="E9FFF0"/>
                </a:solidFill>
                <a:latin typeface="Consolas"/>
                <a:ea typeface="Consolas"/>
                <a:cs typeface="Consolas"/>
                <a:sym typeface="Consolas"/>
              </a:rPr>
              <a:t>  "supply_chain_information": { "origin_farm": "WA-FARM-102", "processing_site": "WA-PROC-14" },</a:t>
            </a:r>
            <a:endParaRPr b="0" i="0" sz="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E9FFF0"/>
              </a:buClr>
              <a:buSzPts val="600"/>
              <a:buFont typeface="Consolas"/>
              <a:buNone/>
            </a:pPr>
            <a:r>
              <a:rPr b="0" i="0" lang="en" sz="600" u="none" cap="none" strike="noStrike">
                <a:solidFill>
                  <a:srgbClr val="E9FFF0"/>
                </a:solidFill>
                <a:latin typeface="Consolas"/>
                <a:ea typeface="Consolas"/>
                <a:cs typeface="Consolas"/>
                <a:sym typeface="Consolas"/>
              </a:rPr>
              <a:t>  "consumer_access_view": { "risk_level": "low", "message": "No active recall found" },</a:t>
            </a:r>
            <a:endParaRPr b="0" i="0" sz="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E9FFF0"/>
              </a:buClr>
              <a:buSzPts val="600"/>
              <a:buFont typeface="Consolas"/>
              <a:buNone/>
            </a:pPr>
            <a:r>
              <a:rPr b="0" i="0" lang="en" sz="600" u="none" cap="none" strike="noStrike">
                <a:solidFill>
                  <a:srgbClr val="E9FFF0"/>
                </a:solidFill>
                <a:latin typeface="Consolas"/>
                <a:ea typeface="Consolas"/>
                <a:cs typeface="Consolas"/>
                <a:sym typeface="Consolas"/>
              </a:rPr>
              <a:t>  "regulator_audit_metadata": { "source_records": ["openFDA", "supplier_db"] }</a:t>
            </a:r>
            <a:endParaRPr b="0" i="0" sz="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E9FFF0"/>
              </a:buClr>
              <a:buSzPts val="600"/>
              <a:buFont typeface="Consolas"/>
              <a:buNone/>
            </a:pPr>
            <a:r>
              <a:rPr b="0" i="0" lang="en" sz="600" u="none" cap="none" strike="noStrike">
                <a:solidFill>
                  <a:srgbClr val="E9FFF0"/>
                </a:solidFill>
                <a:latin typeface="Consolas"/>
                <a:ea typeface="Consolas"/>
                <a:cs typeface="Consolas"/>
                <a:sym typeface="Consolas"/>
              </a:rPr>
              <a:t>}</a:t>
            </a:r>
            <a:endParaRPr b="0" i="0" sz="600" u="none" cap="none" strike="noStrike">
              <a:solidFill>
                <a:schemeClr val="dk1"/>
              </a:solidFill>
              <a:latin typeface="Arial"/>
              <a:ea typeface="Arial"/>
              <a:cs typeface="Arial"/>
              <a:sym typeface="Arial"/>
            </a:endParaRPr>
          </a:p>
        </p:txBody>
      </p:sp>
      <p:sp>
        <p:nvSpPr>
          <p:cNvPr id="231" name="Google Shape;231;p22"/>
          <p:cNvSpPr/>
          <p:nvPr/>
        </p:nvSpPr>
        <p:spPr>
          <a:xfrm>
            <a:off x="5246510" y="1131570"/>
            <a:ext cx="205745" cy="205740"/>
          </a:xfrm>
          <a:prstGeom prst="ellipse">
            <a:avLst/>
          </a:prstGeom>
          <a:solidFill>
            <a:srgbClr val="1F7A4D"/>
          </a:solidFill>
          <a:ln cap="flat" cmpd="sng" w="1270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22"/>
          <p:cNvSpPr/>
          <p:nvPr/>
        </p:nvSpPr>
        <p:spPr>
          <a:xfrm>
            <a:off x="5284230" y="1155573"/>
            <a:ext cx="123447"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i="0" lang="en" sz="800" u="none" cap="none" strike="noStrike">
                <a:solidFill>
                  <a:srgbClr val="FFFFFF"/>
                </a:solidFill>
                <a:latin typeface="Arial"/>
                <a:ea typeface="Arial"/>
                <a:cs typeface="Arial"/>
                <a:sym typeface="Arial"/>
              </a:rPr>
              <a:t>✓</a:t>
            </a:r>
            <a:endParaRPr b="0" i="0" sz="800" u="none" cap="none" strike="noStrike">
              <a:solidFill>
                <a:schemeClr val="dk1"/>
              </a:solidFill>
              <a:latin typeface="Arial"/>
              <a:ea typeface="Arial"/>
              <a:cs typeface="Arial"/>
              <a:sym typeface="Arial"/>
            </a:endParaRPr>
          </a:p>
        </p:txBody>
      </p:sp>
      <p:sp>
        <p:nvSpPr>
          <p:cNvPr id="233" name="Google Shape;233;p22"/>
          <p:cNvSpPr/>
          <p:nvPr/>
        </p:nvSpPr>
        <p:spPr>
          <a:xfrm>
            <a:off x="5534554" y="1124712"/>
            <a:ext cx="2057455"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Stable identity</a:t>
            </a:r>
            <a:endParaRPr b="0" i="0" sz="900" u="none" cap="none" strike="noStrike">
              <a:solidFill>
                <a:schemeClr val="dk1"/>
              </a:solidFill>
              <a:latin typeface="Arial"/>
              <a:ea typeface="Arial"/>
              <a:cs typeface="Arial"/>
              <a:sym typeface="Arial"/>
            </a:endParaRPr>
          </a:p>
        </p:txBody>
      </p:sp>
      <p:sp>
        <p:nvSpPr>
          <p:cNvPr id="234" name="Google Shape;234;p22"/>
          <p:cNvSpPr/>
          <p:nvPr/>
        </p:nvSpPr>
        <p:spPr>
          <a:xfrm>
            <a:off x="5534554" y="1296162"/>
            <a:ext cx="243465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GTIN, product name, lot, and pack date stay consistent across users and tools.</a:t>
            </a:r>
            <a:endParaRPr b="0" i="0" sz="700" u="none" cap="none" strike="noStrike">
              <a:solidFill>
                <a:schemeClr val="dk1"/>
              </a:solidFill>
              <a:latin typeface="Arial"/>
              <a:ea typeface="Arial"/>
              <a:cs typeface="Arial"/>
              <a:sym typeface="Arial"/>
            </a:endParaRPr>
          </a:p>
        </p:txBody>
      </p:sp>
      <p:sp>
        <p:nvSpPr>
          <p:cNvPr id="235" name="Google Shape;235;p22"/>
          <p:cNvSpPr/>
          <p:nvPr/>
        </p:nvSpPr>
        <p:spPr>
          <a:xfrm>
            <a:off x="5246510" y="1988820"/>
            <a:ext cx="205745" cy="205740"/>
          </a:xfrm>
          <a:prstGeom prst="ellipse">
            <a:avLst/>
          </a:prstGeom>
          <a:solidFill>
            <a:srgbClr val="E28B3B"/>
          </a:solidFill>
          <a:ln cap="flat" cmpd="sng" w="12700">
            <a:solidFill>
              <a:srgbClr val="E28B3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22"/>
          <p:cNvSpPr/>
          <p:nvPr/>
        </p:nvSpPr>
        <p:spPr>
          <a:xfrm>
            <a:off x="5284230" y="2012823"/>
            <a:ext cx="123447"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i="0" lang="en" sz="800" u="none" cap="none" strike="noStrike">
                <a:solidFill>
                  <a:srgbClr val="FFFFFF"/>
                </a:solidFill>
                <a:latin typeface="Arial"/>
                <a:ea typeface="Arial"/>
                <a:cs typeface="Arial"/>
                <a:sym typeface="Arial"/>
              </a:rPr>
              <a:t>✓</a:t>
            </a:r>
            <a:endParaRPr b="0" i="0" sz="800" u="none" cap="none" strike="noStrike">
              <a:solidFill>
                <a:schemeClr val="dk1"/>
              </a:solidFill>
              <a:latin typeface="Arial"/>
              <a:ea typeface="Arial"/>
              <a:cs typeface="Arial"/>
              <a:sym typeface="Arial"/>
            </a:endParaRPr>
          </a:p>
        </p:txBody>
      </p:sp>
      <p:sp>
        <p:nvSpPr>
          <p:cNvPr id="237" name="Google Shape;237;p22"/>
          <p:cNvSpPr/>
          <p:nvPr/>
        </p:nvSpPr>
        <p:spPr>
          <a:xfrm>
            <a:off x="5534554" y="1981962"/>
            <a:ext cx="2057455"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Dynamic safety metadata</a:t>
            </a:r>
            <a:endParaRPr b="0" i="0" sz="900" u="none" cap="none" strike="noStrike">
              <a:solidFill>
                <a:schemeClr val="dk1"/>
              </a:solidFill>
              <a:latin typeface="Arial"/>
              <a:ea typeface="Arial"/>
              <a:cs typeface="Arial"/>
              <a:sym typeface="Arial"/>
            </a:endParaRPr>
          </a:p>
        </p:txBody>
      </p:sp>
      <p:sp>
        <p:nvSpPr>
          <p:cNvPr id="238" name="Google Shape;238;p22"/>
          <p:cNvSpPr/>
          <p:nvPr/>
        </p:nvSpPr>
        <p:spPr>
          <a:xfrm>
            <a:off x="5534554" y="2153412"/>
            <a:ext cx="243465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Recall status and quality checks can update without changing the product identity.</a:t>
            </a:r>
            <a:endParaRPr b="0" i="0" sz="700" u="none" cap="none" strike="noStrike">
              <a:solidFill>
                <a:schemeClr val="dk1"/>
              </a:solidFill>
              <a:latin typeface="Arial"/>
              <a:ea typeface="Arial"/>
              <a:cs typeface="Arial"/>
              <a:sym typeface="Arial"/>
            </a:endParaRPr>
          </a:p>
        </p:txBody>
      </p:sp>
      <p:sp>
        <p:nvSpPr>
          <p:cNvPr id="239" name="Google Shape;239;p22"/>
          <p:cNvSpPr/>
          <p:nvPr/>
        </p:nvSpPr>
        <p:spPr>
          <a:xfrm>
            <a:off x="5246510" y="2846070"/>
            <a:ext cx="205745" cy="205740"/>
          </a:xfrm>
          <a:prstGeom prst="ellipse">
            <a:avLst/>
          </a:prstGeom>
          <a:solidFill>
            <a:srgbClr val="3B6FB6"/>
          </a:solidFill>
          <a:ln cap="flat" cmpd="sng" w="12700">
            <a:solidFill>
              <a:srgbClr val="3B6FB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22"/>
          <p:cNvSpPr/>
          <p:nvPr/>
        </p:nvSpPr>
        <p:spPr>
          <a:xfrm>
            <a:off x="5284230" y="2870073"/>
            <a:ext cx="123447"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i="0" lang="en" sz="800" u="none" cap="none" strike="noStrike">
                <a:solidFill>
                  <a:srgbClr val="FFFFFF"/>
                </a:solidFill>
                <a:latin typeface="Arial"/>
                <a:ea typeface="Arial"/>
                <a:cs typeface="Arial"/>
                <a:sym typeface="Arial"/>
              </a:rPr>
              <a:t>✓</a:t>
            </a:r>
            <a:endParaRPr b="0" i="0" sz="800" u="none" cap="none" strike="noStrike">
              <a:solidFill>
                <a:schemeClr val="dk1"/>
              </a:solidFill>
              <a:latin typeface="Arial"/>
              <a:ea typeface="Arial"/>
              <a:cs typeface="Arial"/>
              <a:sym typeface="Arial"/>
            </a:endParaRPr>
          </a:p>
        </p:txBody>
      </p:sp>
      <p:sp>
        <p:nvSpPr>
          <p:cNvPr id="241" name="Google Shape;241;p22"/>
          <p:cNvSpPr/>
          <p:nvPr/>
        </p:nvSpPr>
        <p:spPr>
          <a:xfrm>
            <a:off x="5534554" y="2839212"/>
            <a:ext cx="2057455"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Role-based views</a:t>
            </a:r>
            <a:endParaRPr b="0" i="0" sz="900" u="none" cap="none" strike="noStrike">
              <a:solidFill>
                <a:schemeClr val="dk1"/>
              </a:solidFill>
              <a:latin typeface="Arial"/>
              <a:ea typeface="Arial"/>
              <a:cs typeface="Arial"/>
              <a:sym typeface="Arial"/>
            </a:endParaRPr>
          </a:p>
        </p:txBody>
      </p:sp>
      <p:sp>
        <p:nvSpPr>
          <p:cNvPr id="242" name="Google Shape;242;p22"/>
          <p:cNvSpPr/>
          <p:nvPr/>
        </p:nvSpPr>
        <p:spPr>
          <a:xfrm>
            <a:off x="5534554" y="3010662"/>
            <a:ext cx="243465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Consumer view is simple; supplier and regulator views keep deeper operational evidence.</a:t>
            </a:r>
            <a:endParaRPr b="0" i="0" sz="700" u="none" cap="none" strike="noStrike">
              <a:solidFill>
                <a:schemeClr val="dk1"/>
              </a:solidFill>
              <a:latin typeface="Arial"/>
              <a:ea typeface="Arial"/>
              <a:cs typeface="Arial"/>
              <a:sym typeface="Arial"/>
            </a:endParaRPr>
          </a:p>
        </p:txBody>
      </p:sp>
      <p:sp>
        <p:nvSpPr>
          <p:cNvPr id="243" name="Google Shape;243;p22"/>
          <p:cNvSpPr/>
          <p:nvPr/>
        </p:nvSpPr>
        <p:spPr>
          <a:xfrm>
            <a:off x="5246510" y="3703320"/>
            <a:ext cx="205745" cy="205740"/>
          </a:xfrm>
          <a:prstGeom prst="ellipse">
            <a:avLst/>
          </a:prstGeom>
          <a:solidFill>
            <a:srgbClr val="1F7A4D"/>
          </a:solidFill>
          <a:ln cap="flat" cmpd="sng" w="1270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22"/>
          <p:cNvSpPr/>
          <p:nvPr/>
        </p:nvSpPr>
        <p:spPr>
          <a:xfrm>
            <a:off x="5284230" y="3727323"/>
            <a:ext cx="123447"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i="0" lang="en" sz="800" u="none" cap="none" strike="noStrike">
                <a:solidFill>
                  <a:srgbClr val="FFFFFF"/>
                </a:solidFill>
                <a:latin typeface="Arial"/>
                <a:ea typeface="Arial"/>
                <a:cs typeface="Arial"/>
                <a:sym typeface="Arial"/>
              </a:rPr>
              <a:t>✓</a:t>
            </a:r>
            <a:endParaRPr b="0" i="0" sz="800" u="none" cap="none" strike="noStrike">
              <a:solidFill>
                <a:schemeClr val="dk1"/>
              </a:solidFill>
              <a:latin typeface="Arial"/>
              <a:ea typeface="Arial"/>
              <a:cs typeface="Arial"/>
              <a:sym typeface="Arial"/>
            </a:endParaRPr>
          </a:p>
        </p:txBody>
      </p:sp>
      <p:sp>
        <p:nvSpPr>
          <p:cNvPr id="245" name="Google Shape;245;p22"/>
          <p:cNvSpPr/>
          <p:nvPr/>
        </p:nvSpPr>
        <p:spPr>
          <a:xfrm>
            <a:off x="5534554" y="3696462"/>
            <a:ext cx="2057455"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Reusable formats</a:t>
            </a:r>
            <a:endParaRPr b="0" i="0" sz="900" u="none" cap="none" strike="noStrike">
              <a:solidFill>
                <a:schemeClr val="dk1"/>
              </a:solidFill>
              <a:latin typeface="Arial"/>
              <a:ea typeface="Arial"/>
              <a:cs typeface="Arial"/>
              <a:sym typeface="Arial"/>
            </a:endParaRPr>
          </a:p>
        </p:txBody>
      </p:sp>
      <p:sp>
        <p:nvSpPr>
          <p:cNvPr id="246" name="Google Shape;246;p22"/>
          <p:cNvSpPr/>
          <p:nvPr/>
        </p:nvSpPr>
        <p:spPr>
          <a:xfrm>
            <a:off x="5534554" y="3867912"/>
            <a:ext cx="2434655"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700"/>
              <a:buFont typeface="Arial"/>
              <a:buNone/>
            </a:pPr>
            <a:r>
              <a:rPr b="0" i="0" lang="en" sz="700" u="none" cap="none" strike="noStrike">
                <a:solidFill>
                  <a:srgbClr val="5F6B63"/>
                </a:solidFill>
                <a:latin typeface="Arial"/>
                <a:ea typeface="Arial"/>
                <a:cs typeface="Arial"/>
                <a:sym typeface="Arial"/>
              </a:rPr>
              <a:t>The same structure can be exported as JSON, CSV, or served through REST endpoints.</a:t>
            </a:r>
            <a:endParaRPr b="0" i="0" sz="700" u="none" cap="none" strike="noStrike">
              <a:solidFill>
                <a:schemeClr val="dk1"/>
              </a:solidFill>
              <a:latin typeface="Arial"/>
              <a:ea typeface="Arial"/>
              <a:cs typeface="Arial"/>
              <a:sym typeface="Arial"/>
            </a:endParaRPr>
          </a:p>
        </p:txBody>
      </p:sp>
      <p:sp>
        <p:nvSpPr>
          <p:cNvPr id="247" name="Google Shape;247;p22"/>
          <p:cNvSpPr txBox="1"/>
          <p:nvPr>
            <p:ph idx="4294967295"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6A7A70"/>
                </a:solidFill>
                <a:latin typeface="Arial"/>
                <a:ea typeface="Arial"/>
                <a:cs typeface="Arial"/>
                <a:sym typeface="Arial"/>
              </a:rPr>
              <a:t>‹#›</a:t>
            </a:fld>
            <a:endParaRPr b="0" i="0" sz="600" u="none" cap="none" strike="noStrike">
              <a:solidFill>
                <a:srgbClr val="6A7A7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3"/>
          <p:cNvSpPr/>
          <p:nvPr/>
        </p:nvSpPr>
        <p:spPr>
          <a:xfrm>
            <a:off x="480073" y="288036"/>
            <a:ext cx="6240946"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900"/>
              <a:buFont typeface="Play"/>
              <a:buNone/>
            </a:pPr>
            <a:r>
              <a:rPr b="1" i="0" lang="en" sz="1900" u="none" cap="none" strike="noStrike">
                <a:solidFill>
                  <a:srgbClr val="173B2F"/>
                </a:solidFill>
                <a:latin typeface="Play"/>
                <a:ea typeface="Play"/>
                <a:cs typeface="Play"/>
                <a:sym typeface="Play"/>
              </a:rPr>
              <a:t>Prototype access flow</a:t>
            </a:r>
            <a:endParaRPr b="0" i="0" sz="1900" u="none" cap="none" strike="noStrike">
              <a:solidFill>
                <a:schemeClr val="dk1"/>
              </a:solidFill>
              <a:latin typeface="Arial"/>
              <a:ea typeface="Arial"/>
              <a:cs typeface="Arial"/>
              <a:sym typeface="Arial"/>
            </a:endParaRPr>
          </a:p>
        </p:txBody>
      </p:sp>
      <p:sp>
        <p:nvSpPr>
          <p:cNvPr id="254" name="Google Shape;254;p23"/>
          <p:cNvSpPr/>
          <p:nvPr/>
        </p:nvSpPr>
        <p:spPr>
          <a:xfrm>
            <a:off x="493789" y="630936"/>
            <a:ext cx="5760874"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The QR scan turns a physical food item into an API-backed information product.</a:t>
            </a:r>
            <a:endParaRPr b="0" i="0" sz="800" u="none" cap="none" strike="noStrike">
              <a:solidFill>
                <a:schemeClr val="dk1"/>
              </a:solidFill>
              <a:latin typeface="Arial"/>
              <a:ea typeface="Arial"/>
              <a:cs typeface="Arial"/>
              <a:sym typeface="Arial"/>
            </a:endParaRPr>
          </a:p>
        </p:txBody>
      </p:sp>
      <p:cxnSp>
        <p:nvCxnSpPr>
          <p:cNvPr id="255" name="Google Shape;255;p23"/>
          <p:cNvCxnSpPr/>
          <p:nvPr/>
        </p:nvCxnSpPr>
        <p:spPr>
          <a:xfrm>
            <a:off x="1714546" y="2160270"/>
            <a:ext cx="534938" cy="0"/>
          </a:xfrm>
          <a:prstGeom prst="straightConnector1">
            <a:avLst/>
          </a:prstGeom>
          <a:noFill/>
          <a:ln cap="flat" cmpd="sng" w="25400">
            <a:solidFill>
              <a:srgbClr val="B8CBBB"/>
            </a:solidFill>
            <a:prstDash val="solid"/>
            <a:round/>
            <a:headEnd len="sm" w="sm" type="none"/>
            <a:tailEnd len="med" w="med" type="triangle"/>
          </a:ln>
        </p:spPr>
      </p:cxnSp>
      <p:cxnSp>
        <p:nvCxnSpPr>
          <p:cNvPr id="256" name="Google Shape;256;p23"/>
          <p:cNvCxnSpPr/>
          <p:nvPr/>
        </p:nvCxnSpPr>
        <p:spPr>
          <a:xfrm>
            <a:off x="3394800" y="2160270"/>
            <a:ext cx="534938" cy="0"/>
          </a:xfrm>
          <a:prstGeom prst="straightConnector1">
            <a:avLst/>
          </a:prstGeom>
          <a:noFill/>
          <a:ln cap="flat" cmpd="sng" w="25400">
            <a:solidFill>
              <a:srgbClr val="B8CBBB"/>
            </a:solidFill>
            <a:prstDash val="solid"/>
            <a:round/>
            <a:headEnd len="sm" w="sm" type="none"/>
            <a:tailEnd len="med" w="med" type="triangle"/>
          </a:ln>
        </p:spPr>
      </p:cxnSp>
      <p:cxnSp>
        <p:nvCxnSpPr>
          <p:cNvPr id="257" name="Google Shape;257;p23"/>
          <p:cNvCxnSpPr/>
          <p:nvPr/>
        </p:nvCxnSpPr>
        <p:spPr>
          <a:xfrm>
            <a:off x="5075055" y="2160270"/>
            <a:ext cx="534938" cy="0"/>
          </a:xfrm>
          <a:prstGeom prst="straightConnector1">
            <a:avLst/>
          </a:prstGeom>
          <a:noFill/>
          <a:ln cap="flat" cmpd="sng" w="25400">
            <a:solidFill>
              <a:srgbClr val="B8CBBB"/>
            </a:solidFill>
            <a:prstDash val="solid"/>
            <a:round/>
            <a:headEnd len="sm" w="sm" type="none"/>
            <a:tailEnd len="med" w="med" type="triangle"/>
          </a:ln>
        </p:spPr>
      </p:cxnSp>
      <p:cxnSp>
        <p:nvCxnSpPr>
          <p:cNvPr id="258" name="Google Shape;258;p23"/>
          <p:cNvCxnSpPr/>
          <p:nvPr/>
        </p:nvCxnSpPr>
        <p:spPr>
          <a:xfrm>
            <a:off x="6755310" y="2160270"/>
            <a:ext cx="534938" cy="0"/>
          </a:xfrm>
          <a:prstGeom prst="straightConnector1">
            <a:avLst/>
          </a:prstGeom>
          <a:noFill/>
          <a:ln cap="flat" cmpd="sng" w="25400">
            <a:solidFill>
              <a:srgbClr val="B8CBBB"/>
            </a:solidFill>
            <a:prstDash val="solid"/>
            <a:round/>
            <a:headEnd len="sm" w="sm" type="none"/>
            <a:tailEnd len="med" w="med" type="triangle"/>
          </a:ln>
        </p:spPr>
      </p:cxnSp>
      <p:sp>
        <p:nvSpPr>
          <p:cNvPr id="259" name="Google Shape;259;p23"/>
          <p:cNvSpPr/>
          <p:nvPr/>
        </p:nvSpPr>
        <p:spPr>
          <a:xfrm>
            <a:off x="445782" y="1543050"/>
            <a:ext cx="1268764" cy="1234440"/>
          </a:xfrm>
          <a:prstGeom prst="roundRect">
            <a:avLst>
              <a:gd fmla="val 6667"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23"/>
          <p:cNvSpPr/>
          <p:nvPr/>
        </p:nvSpPr>
        <p:spPr>
          <a:xfrm>
            <a:off x="884706" y="1700784"/>
            <a:ext cx="377200" cy="377190"/>
          </a:xfrm>
          <a:prstGeom prst="ellipse">
            <a:avLst/>
          </a:prstGeom>
          <a:solidFill>
            <a:srgbClr val="DFF1E5"/>
          </a:solidFill>
          <a:ln cap="flat" cmpd="sng" w="12700">
            <a:solidFill>
              <a:srgbClr val="DFF1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1" name="Google Shape;261;p23"/>
          <p:cNvSpPr/>
          <p:nvPr/>
        </p:nvSpPr>
        <p:spPr>
          <a:xfrm>
            <a:off x="980720" y="1796796"/>
            <a:ext cx="171455"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7A4D"/>
              </a:buClr>
              <a:buSzPts val="600"/>
              <a:buFont typeface="Arial"/>
              <a:buNone/>
            </a:pPr>
            <a:r>
              <a:rPr b="1" i="0" lang="en" sz="600" u="none" cap="none" strike="noStrike">
                <a:solidFill>
                  <a:srgbClr val="1F7A4D"/>
                </a:solidFill>
                <a:latin typeface="Arial"/>
                <a:ea typeface="Arial"/>
                <a:cs typeface="Arial"/>
                <a:sym typeface="Arial"/>
              </a:rPr>
              <a:t>1</a:t>
            </a:r>
            <a:endParaRPr b="0" i="0" sz="600" u="none" cap="none" strike="noStrike">
              <a:solidFill>
                <a:schemeClr val="dk1"/>
              </a:solidFill>
              <a:latin typeface="Arial"/>
              <a:ea typeface="Arial"/>
              <a:cs typeface="Arial"/>
              <a:sym typeface="Arial"/>
            </a:endParaRPr>
          </a:p>
        </p:txBody>
      </p:sp>
      <p:sp>
        <p:nvSpPr>
          <p:cNvPr id="262" name="Google Shape;262;p23"/>
          <p:cNvSpPr/>
          <p:nvPr/>
        </p:nvSpPr>
        <p:spPr>
          <a:xfrm>
            <a:off x="548655" y="2180844"/>
            <a:ext cx="1042444"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QR on package</a:t>
            </a:r>
            <a:endParaRPr b="0" i="0" sz="900" u="none" cap="none" strike="noStrike">
              <a:solidFill>
                <a:schemeClr val="dk1"/>
              </a:solidFill>
              <a:latin typeface="Arial"/>
              <a:ea typeface="Arial"/>
              <a:cs typeface="Arial"/>
              <a:sym typeface="Arial"/>
            </a:endParaRPr>
          </a:p>
        </p:txBody>
      </p:sp>
      <p:sp>
        <p:nvSpPr>
          <p:cNvPr id="263" name="Google Shape;263;p23"/>
          <p:cNvSpPr/>
          <p:nvPr/>
        </p:nvSpPr>
        <p:spPr>
          <a:xfrm>
            <a:off x="555513" y="2400300"/>
            <a:ext cx="1028727"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63"/>
              </a:buClr>
              <a:buSzPts val="600"/>
              <a:buFont typeface="Arial"/>
              <a:buNone/>
            </a:pPr>
            <a:r>
              <a:rPr b="0" i="0" lang="en" sz="600" u="none" cap="none" strike="noStrike">
                <a:solidFill>
                  <a:srgbClr val="5F6B63"/>
                </a:solidFill>
                <a:latin typeface="Arial"/>
                <a:ea typeface="Arial"/>
                <a:cs typeface="Arial"/>
                <a:sym typeface="Arial"/>
              </a:rPr>
              <a:t>GS1 Digital Link / product URL</a:t>
            </a:r>
            <a:endParaRPr b="0" i="0" sz="600" u="none" cap="none" strike="noStrike">
              <a:solidFill>
                <a:schemeClr val="dk1"/>
              </a:solidFill>
              <a:latin typeface="Arial"/>
              <a:ea typeface="Arial"/>
              <a:cs typeface="Arial"/>
              <a:sym typeface="Arial"/>
            </a:endParaRPr>
          </a:p>
        </p:txBody>
      </p:sp>
      <p:sp>
        <p:nvSpPr>
          <p:cNvPr id="264" name="Google Shape;264;p23"/>
          <p:cNvSpPr/>
          <p:nvPr/>
        </p:nvSpPr>
        <p:spPr>
          <a:xfrm>
            <a:off x="2126037" y="1543050"/>
            <a:ext cx="1268764" cy="1234440"/>
          </a:xfrm>
          <a:prstGeom prst="roundRect">
            <a:avLst>
              <a:gd fmla="val 6667"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23"/>
          <p:cNvSpPr/>
          <p:nvPr/>
        </p:nvSpPr>
        <p:spPr>
          <a:xfrm>
            <a:off x="2564960" y="1700784"/>
            <a:ext cx="377200" cy="377190"/>
          </a:xfrm>
          <a:prstGeom prst="ellipse">
            <a:avLst/>
          </a:prstGeom>
          <a:solidFill>
            <a:srgbClr val="DFF1E5"/>
          </a:solidFill>
          <a:ln cap="flat" cmpd="sng" w="12700">
            <a:solidFill>
              <a:srgbClr val="DFF1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6" name="Google Shape;266;p23"/>
          <p:cNvSpPr/>
          <p:nvPr/>
        </p:nvSpPr>
        <p:spPr>
          <a:xfrm>
            <a:off x="2660975" y="1796796"/>
            <a:ext cx="171455"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7A4D"/>
              </a:buClr>
              <a:buSzPts val="600"/>
              <a:buFont typeface="Arial"/>
              <a:buNone/>
            </a:pPr>
            <a:r>
              <a:rPr b="1" i="0" lang="en" sz="600" u="none" cap="none" strike="noStrike">
                <a:solidFill>
                  <a:srgbClr val="1F7A4D"/>
                </a:solidFill>
                <a:latin typeface="Arial"/>
                <a:ea typeface="Arial"/>
                <a:cs typeface="Arial"/>
                <a:sym typeface="Arial"/>
              </a:rPr>
              <a:t>2</a:t>
            </a:r>
            <a:endParaRPr b="0" i="0" sz="600" u="none" cap="none" strike="noStrike">
              <a:solidFill>
                <a:schemeClr val="dk1"/>
              </a:solidFill>
              <a:latin typeface="Arial"/>
              <a:ea typeface="Arial"/>
              <a:cs typeface="Arial"/>
              <a:sym typeface="Arial"/>
            </a:endParaRPr>
          </a:p>
        </p:txBody>
      </p:sp>
      <p:sp>
        <p:nvSpPr>
          <p:cNvPr id="267" name="Google Shape;267;p23"/>
          <p:cNvSpPr/>
          <p:nvPr/>
        </p:nvSpPr>
        <p:spPr>
          <a:xfrm>
            <a:off x="2228909" y="2180844"/>
            <a:ext cx="1042444"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API request</a:t>
            </a:r>
            <a:endParaRPr b="0" i="0" sz="900" u="none" cap="none" strike="noStrike">
              <a:solidFill>
                <a:schemeClr val="dk1"/>
              </a:solidFill>
              <a:latin typeface="Arial"/>
              <a:ea typeface="Arial"/>
              <a:cs typeface="Arial"/>
              <a:sym typeface="Arial"/>
            </a:endParaRPr>
          </a:p>
        </p:txBody>
      </p:sp>
      <p:sp>
        <p:nvSpPr>
          <p:cNvPr id="268" name="Google Shape;268;p23"/>
          <p:cNvSpPr/>
          <p:nvPr/>
        </p:nvSpPr>
        <p:spPr>
          <a:xfrm>
            <a:off x="2235768" y="2400300"/>
            <a:ext cx="1028727"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63"/>
              </a:buClr>
              <a:buSzPts val="600"/>
              <a:buFont typeface="Arial"/>
              <a:buNone/>
            </a:pPr>
            <a:r>
              <a:rPr b="0" i="0" lang="en" sz="600" u="none" cap="none" strike="noStrike">
                <a:solidFill>
                  <a:srgbClr val="5F6B63"/>
                </a:solidFill>
                <a:latin typeface="Arial"/>
                <a:ea typeface="Arial"/>
                <a:cs typeface="Arial"/>
                <a:sym typeface="Arial"/>
              </a:rPr>
              <a:t>GET batch safety record</a:t>
            </a:r>
            <a:endParaRPr b="0" i="0" sz="600" u="none" cap="none" strike="noStrike">
              <a:solidFill>
                <a:schemeClr val="dk1"/>
              </a:solidFill>
              <a:latin typeface="Arial"/>
              <a:ea typeface="Arial"/>
              <a:cs typeface="Arial"/>
              <a:sym typeface="Arial"/>
            </a:endParaRPr>
          </a:p>
        </p:txBody>
      </p:sp>
      <p:sp>
        <p:nvSpPr>
          <p:cNvPr id="269" name="Google Shape;269;p23"/>
          <p:cNvSpPr/>
          <p:nvPr/>
        </p:nvSpPr>
        <p:spPr>
          <a:xfrm>
            <a:off x="3806291" y="1543050"/>
            <a:ext cx="1268764" cy="1234440"/>
          </a:xfrm>
          <a:prstGeom prst="roundRect">
            <a:avLst>
              <a:gd fmla="val 6667"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0" name="Google Shape;270;p23"/>
          <p:cNvSpPr/>
          <p:nvPr/>
        </p:nvSpPr>
        <p:spPr>
          <a:xfrm>
            <a:off x="4245215" y="1700784"/>
            <a:ext cx="377200" cy="377190"/>
          </a:xfrm>
          <a:prstGeom prst="ellipse">
            <a:avLst/>
          </a:prstGeom>
          <a:solidFill>
            <a:srgbClr val="DFF1E5"/>
          </a:solidFill>
          <a:ln cap="flat" cmpd="sng" w="12700">
            <a:solidFill>
              <a:srgbClr val="DFF1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1" name="Google Shape;271;p23"/>
          <p:cNvSpPr/>
          <p:nvPr/>
        </p:nvSpPr>
        <p:spPr>
          <a:xfrm>
            <a:off x="4341230" y="1796796"/>
            <a:ext cx="171455"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7A4D"/>
              </a:buClr>
              <a:buSzPts val="600"/>
              <a:buFont typeface="Arial"/>
              <a:buNone/>
            </a:pPr>
            <a:r>
              <a:rPr b="1" i="0" lang="en" sz="600" u="none" cap="none" strike="noStrike">
                <a:solidFill>
                  <a:srgbClr val="1F7A4D"/>
                </a:solidFill>
                <a:latin typeface="Arial"/>
                <a:ea typeface="Arial"/>
                <a:cs typeface="Arial"/>
                <a:sym typeface="Arial"/>
              </a:rPr>
              <a:t>3</a:t>
            </a:r>
            <a:endParaRPr b="0" i="0" sz="600" u="none" cap="none" strike="noStrike">
              <a:solidFill>
                <a:schemeClr val="dk1"/>
              </a:solidFill>
              <a:latin typeface="Arial"/>
              <a:ea typeface="Arial"/>
              <a:cs typeface="Arial"/>
              <a:sym typeface="Arial"/>
            </a:endParaRPr>
          </a:p>
        </p:txBody>
      </p:sp>
      <p:sp>
        <p:nvSpPr>
          <p:cNvPr id="272" name="Google Shape;272;p23"/>
          <p:cNvSpPr/>
          <p:nvPr/>
        </p:nvSpPr>
        <p:spPr>
          <a:xfrm>
            <a:off x="3909164" y="2180844"/>
            <a:ext cx="1042444"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ETL + validation</a:t>
            </a:r>
            <a:endParaRPr b="0" i="0" sz="900" u="none" cap="none" strike="noStrike">
              <a:solidFill>
                <a:schemeClr val="dk1"/>
              </a:solidFill>
              <a:latin typeface="Arial"/>
              <a:ea typeface="Arial"/>
              <a:cs typeface="Arial"/>
              <a:sym typeface="Arial"/>
            </a:endParaRPr>
          </a:p>
        </p:txBody>
      </p:sp>
      <p:sp>
        <p:nvSpPr>
          <p:cNvPr id="273" name="Google Shape;273;p23"/>
          <p:cNvSpPr/>
          <p:nvPr/>
        </p:nvSpPr>
        <p:spPr>
          <a:xfrm>
            <a:off x="3916022" y="2400300"/>
            <a:ext cx="1028727"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63"/>
              </a:buClr>
              <a:buSzPts val="600"/>
              <a:buFont typeface="Arial"/>
              <a:buNone/>
            </a:pPr>
            <a:r>
              <a:rPr b="0" i="0" lang="en" sz="600" u="none" cap="none" strike="noStrike">
                <a:solidFill>
                  <a:srgbClr val="5F6B63"/>
                </a:solidFill>
                <a:latin typeface="Arial"/>
                <a:ea typeface="Arial"/>
                <a:cs typeface="Arial"/>
                <a:sym typeface="Arial"/>
              </a:rPr>
              <a:t>Merge recall + supplier + inspection</a:t>
            </a:r>
            <a:endParaRPr b="0" i="0" sz="600" u="none" cap="none" strike="noStrike">
              <a:solidFill>
                <a:schemeClr val="dk1"/>
              </a:solidFill>
              <a:latin typeface="Arial"/>
              <a:ea typeface="Arial"/>
              <a:cs typeface="Arial"/>
              <a:sym typeface="Arial"/>
            </a:endParaRPr>
          </a:p>
        </p:txBody>
      </p:sp>
      <p:sp>
        <p:nvSpPr>
          <p:cNvPr id="274" name="Google Shape;274;p23"/>
          <p:cNvSpPr/>
          <p:nvPr/>
        </p:nvSpPr>
        <p:spPr>
          <a:xfrm>
            <a:off x="5486546" y="1543050"/>
            <a:ext cx="1268764" cy="1234440"/>
          </a:xfrm>
          <a:prstGeom prst="roundRect">
            <a:avLst>
              <a:gd fmla="val 6667"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5" name="Google Shape;275;p23"/>
          <p:cNvSpPr/>
          <p:nvPr/>
        </p:nvSpPr>
        <p:spPr>
          <a:xfrm>
            <a:off x="5925470" y="1700784"/>
            <a:ext cx="377200" cy="377190"/>
          </a:xfrm>
          <a:prstGeom prst="ellipse">
            <a:avLst/>
          </a:prstGeom>
          <a:solidFill>
            <a:srgbClr val="DFF1E5"/>
          </a:solidFill>
          <a:ln cap="flat" cmpd="sng" w="12700">
            <a:solidFill>
              <a:srgbClr val="DFF1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6" name="Google Shape;276;p23"/>
          <p:cNvSpPr/>
          <p:nvPr/>
        </p:nvSpPr>
        <p:spPr>
          <a:xfrm>
            <a:off x="6021485" y="1796796"/>
            <a:ext cx="171455"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7A4D"/>
              </a:buClr>
              <a:buSzPts val="600"/>
              <a:buFont typeface="Arial"/>
              <a:buNone/>
            </a:pPr>
            <a:r>
              <a:rPr b="1" i="0" lang="en" sz="600" u="none" cap="none" strike="noStrike">
                <a:solidFill>
                  <a:srgbClr val="1F7A4D"/>
                </a:solidFill>
                <a:latin typeface="Arial"/>
                <a:ea typeface="Arial"/>
                <a:cs typeface="Arial"/>
                <a:sym typeface="Arial"/>
              </a:rPr>
              <a:t>4</a:t>
            </a:r>
            <a:endParaRPr b="0" i="0" sz="600" u="none" cap="none" strike="noStrike">
              <a:solidFill>
                <a:schemeClr val="dk1"/>
              </a:solidFill>
              <a:latin typeface="Arial"/>
              <a:ea typeface="Arial"/>
              <a:cs typeface="Arial"/>
              <a:sym typeface="Arial"/>
            </a:endParaRPr>
          </a:p>
        </p:txBody>
      </p:sp>
      <p:sp>
        <p:nvSpPr>
          <p:cNvPr id="277" name="Google Shape;277;p23"/>
          <p:cNvSpPr/>
          <p:nvPr/>
        </p:nvSpPr>
        <p:spPr>
          <a:xfrm>
            <a:off x="5589419" y="2180844"/>
            <a:ext cx="1042444"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Access filter</a:t>
            </a:r>
            <a:endParaRPr b="0" i="0" sz="900" u="none" cap="none" strike="noStrike">
              <a:solidFill>
                <a:schemeClr val="dk1"/>
              </a:solidFill>
              <a:latin typeface="Arial"/>
              <a:ea typeface="Arial"/>
              <a:cs typeface="Arial"/>
              <a:sym typeface="Arial"/>
            </a:endParaRPr>
          </a:p>
        </p:txBody>
      </p:sp>
      <p:sp>
        <p:nvSpPr>
          <p:cNvPr id="278" name="Google Shape;278;p23"/>
          <p:cNvSpPr/>
          <p:nvPr/>
        </p:nvSpPr>
        <p:spPr>
          <a:xfrm>
            <a:off x="5596277" y="2400300"/>
            <a:ext cx="1028727"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63"/>
              </a:buClr>
              <a:buSzPts val="600"/>
              <a:buFont typeface="Arial"/>
              <a:buNone/>
            </a:pPr>
            <a:r>
              <a:rPr b="0" i="0" lang="en" sz="600" u="none" cap="none" strike="noStrike">
                <a:solidFill>
                  <a:srgbClr val="5F6B63"/>
                </a:solidFill>
                <a:latin typeface="Arial"/>
                <a:ea typeface="Arial"/>
                <a:cs typeface="Arial"/>
                <a:sym typeface="Arial"/>
              </a:rPr>
              <a:t>Consumer / supplier / regulator view</a:t>
            </a:r>
            <a:endParaRPr b="0" i="0" sz="600" u="none" cap="none" strike="noStrike">
              <a:solidFill>
                <a:schemeClr val="dk1"/>
              </a:solidFill>
              <a:latin typeface="Arial"/>
              <a:ea typeface="Arial"/>
              <a:cs typeface="Arial"/>
              <a:sym typeface="Arial"/>
            </a:endParaRPr>
          </a:p>
        </p:txBody>
      </p:sp>
      <p:sp>
        <p:nvSpPr>
          <p:cNvPr id="279" name="Google Shape;279;p23"/>
          <p:cNvSpPr/>
          <p:nvPr/>
        </p:nvSpPr>
        <p:spPr>
          <a:xfrm>
            <a:off x="7166801" y="1543050"/>
            <a:ext cx="1268764" cy="1234440"/>
          </a:xfrm>
          <a:prstGeom prst="roundRect">
            <a:avLst>
              <a:gd fmla="val 6667" name="adj"/>
            </a:avLst>
          </a:prstGeom>
          <a:solidFill>
            <a:srgbClr val="FFFFFF"/>
          </a:solidFill>
          <a:ln cap="flat" cmpd="sng" w="1905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3"/>
          <p:cNvSpPr/>
          <p:nvPr/>
        </p:nvSpPr>
        <p:spPr>
          <a:xfrm>
            <a:off x="7605725" y="1700784"/>
            <a:ext cx="377200" cy="377190"/>
          </a:xfrm>
          <a:prstGeom prst="ellipse">
            <a:avLst/>
          </a:prstGeom>
          <a:solidFill>
            <a:srgbClr val="1F7A4D"/>
          </a:solidFill>
          <a:ln cap="flat" cmpd="sng" w="1270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23"/>
          <p:cNvSpPr/>
          <p:nvPr/>
        </p:nvSpPr>
        <p:spPr>
          <a:xfrm>
            <a:off x="7701739" y="1796796"/>
            <a:ext cx="171455" cy="10287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i="0" lang="en" sz="600" u="none" cap="none" strike="noStrike">
                <a:solidFill>
                  <a:srgbClr val="FFFFFF"/>
                </a:solidFill>
                <a:latin typeface="Arial"/>
                <a:ea typeface="Arial"/>
                <a:cs typeface="Arial"/>
                <a:sym typeface="Arial"/>
              </a:rPr>
              <a:t>5</a:t>
            </a:r>
            <a:endParaRPr b="0" i="0" sz="600" u="none" cap="none" strike="noStrike">
              <a:solidFill>
                <a:schemeClr val="dk1"/>
              </a:solidFill>
              <a:latin typeface="Arial"/>
              <a:ea typeface="Arial"/>
              <a:cs typeface="Arial"/>
              <a:sym typeface="Arial"/>
            </a:endParaRPr>
          </a:p>
        </p:txBody>
      </p:sp>
      <p:sp>
        <p:nvSpPr>
          <p:cNvPr id="282" name="Google Shape;282;p23"/>
          <p:cNvSpPr/>
          <p:nvPr/>
        </p:nvSpPr>
        <p:spPr>
          <a:xfrm>
            <a:off x="7269674" y="2180844"/>
            <a:ext cx="1042444"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2F"/>
              </a:buClr>
              <a:buSzPts val="900"/>
              <a:buFont typeface="Arial"/>
              <a:buNone/>
            </a:pPr>
            <a:r>
              <a:rPr b="1" i="0" lang="en" sz="900" u="none" cap="none" strike="noStrike">
                <a:solidFill>
                  <a:srgbClr val="173B2F"/>
                </a:solidFill>
                <a:latin typeface="Arial"/>
                <a:ea typeface="Arial"/>
                <a:cs typeface="Arial"/>
                <a:sym typeface="Arial"/>
              </a:rPr>
              <a:t>Actionable output</a:t>
            </a:r>
            <a:endParaRPr b="0" i="0" sz="900" u="none" cap="none" strike="noStrike">
              <a:solidFill>
                <a:schemeClr val="dk1"/>
              </a:solidFill>
              <a:latin typeface="Arial"/>
              <a:ea typeface="Arial"/>
              <a:cs typeface="Arial"/>
              <a:sym typeface="Arial"/>
            </a:endParaRPr>
          </a:p>
        </p:txBody>
      </p:sp>
      <p:sp>
        <p:nvSpPr>
          <p:cNvPr id="283" name="Google Shape;283;p23"/>
          <p:cNvSpPr/>
          <p:nvPr/>
        </p:nvSpPr>
        <p:spPr>
          <a:xfrm>
            <a:off x="7276532" y="2400300"/>
            <a:ext cx="1028727"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63"/>
              </a:buClr>
              <a:buSzPts val="600"/>
              <a:buFont typeface="Arial"/>
              <a:buNone/>
            </a:pPr>
            <a:r>
              <a:rPr b="0" i="0" lang="en" sz="600" u="none" cap="none" strike="noStrike">
                <a:solidFill>
                  <a:srgbClr val="5F6B63"/>
                </a:solidFill>
                <a:latin typeface="Arial"/>
                <a:ea typeface="Arial"/>
                <a:cs typeface="Arial"/>
                <a:sym typeface="Arial"/>
              </a:rPr>
              <a:t>Risk level + details + next action</a:t>
            </a:r>
            <a:endParaRPr b="0" i="0" sz="600" u="none" cap="none" strike="noStrike">
              <a:solidFill>
                <a:schemeClr val="dk1"/>
              </a:solidFill>
              <a:latin typeface="Arial"/>
              <a:ea typeface="Arial"/>
              <a:cs typeface="Arial"/>
              <a:sym typeface="Arial"/>
            </a:endParaRPr>
          </a:p>
        </p:txBody>
      </p:sp>
      <p:sp>
        <p:nvSpPr>
          <p:cNvPr id="284" name="Google Shape;284;p23"/>
          <p:cNvSpPr/>
          <p:nvPr/>
        </p:nvSpPr>
        <p:spPr>
          <a:xfrm>
            <a:off x="822982" y="3600450"/>
            <a:ext cx="7475419"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B2F"/>
              </a:buClr>
              <a:buSzPts val="1200"/>
              <a:buFont typeface="Arial"/>
              <a:buNone/>
            </a:pPr>
            <a:r>
              <a:rPr b="1" i="0" lang="en" sz="1200" u="none" cap="none" strike="noStrike">
                <a:solidFill>
                  <a:srgbClr val="173B2F"/>
                </a:solidFill>
                <a:latin typeface="Arial"/>
                <a:ea typeface="Arial"/>
                <a:cs typeface="Arial"/>
                <a:sym typeface="Arial"/>
              </a:rPr>
              <a:t>Design result: the QR code is not just a label. It becomes the access point for a portable, versioned, and testable information structure.</a:t>
            </a:r>
            <a:endParaRPr b="0" i="0" sz="1200" u="none" cap="none" strike="noStrike">
              <a:solidFill>
                <a:schemeClr val="dk1"/>
              </a:solidFill>
              <a:latin typeface="Arial"/>
              <a:ea typeface="Arial"/>
              <a:cs typeface="Arial"/>
              <a:sym typeface="Arial"/>
            </a:endParaRPr>
          </a:p>
        </p:txBody>
      </p:sp>
      <p:sp>
        <p:nvSpPr>
          <p:cNvPr id="285" name="Google Shape;285;p23"/>
          <p:cNvSpPr txBox="1"/>
          <p:nvPr>
            <p:ph idx="4294967295"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6A7A70"/>
                </a:solidFill>
                <a:latin typeface="Arial"/>
                <a:ea typeface="Arial"/>
                <a:cs typeface="Arial"/>
                <a:sym typeface="Arial"/>
              </a:rPr>
              <a:t>‹#›</a:t>
            </a:fld>
            <a:endParaRPr b="0" i="0" sz="600" u="none" cap="none" strike="noStrike">
              <a:solidFill>
                <a:srgbClr val="6A7A7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4"/>
          <p:cNvSpPr/>
          <p:nvPr/>
        </p:nvSpPr>
        <p:spPr>
          <a:xfrm>
            <a:off x="480073" y="288036"/>
            <a:ext cx="6240946"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900"/>
              <a:buFont typeface="Play"/>
              <a:buNone/>
            </a:pPr>
            <a:r>
              <a:rPr b="1" i="0" lang="en" sz="1900" u="none" cap="none" strike="noStrike">
                <a:solidFill>
                  <a:srgbClr val="173B2F"/>
                </a:solidFill>
                <a:latin typeface="Play"/>
                <a:ea typeface="Play"/>
                <a:cs typeface="Play"/>
                <a:sym typeface="Play"/>
              </a:rPr>
              <a:t>Quality, performance, and security controls</a:t>
            </a:r>
            <a:endParaRPr b="0" i="0" sz="1900" u="none" cap="none" strike="noStrike">
              <a:solidFill>
                <a:schemeClr val="dk1"/>
              </a:solidFill>
              <a:latin typeface="Arial"/>
              <a:ea typeface="Arial"/>
              <a:cs typeface="Arial"/>
              <a:sym typeface="Arial"/>
            </a:endParaRPr>
          </a:p>
        </p:txBody>
      </p:sp>
      <p:sp>
        <p:nvSpPr>
          <p:cNvPr id="292" name="Google Shape;292;p24"/>
          <p:cNvSpPr/>
          <p:nvPr/>
        </p:nvSpPr>
        <p:spPr>
          <a:xfrm>
            <a:off x="493789" y="630936"/>
            <a:ext cx="5760874"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B63"/>
              </a:buClr>
              <a:buSzPts val="800"/>
              <a:buFont typeface="Arial"/>
              <a:buNone/>
            </a:pPr>
            <a:r>
              <a:rPr b="0" i="0" lang="en" sz="800" u="none" cap="none" strike="noStrike">
                <a:solidFill>
                  <a:srgbClr val="5F6B63"/>
                </a:solidFill>
                <a:latin typeface="Arial"/>
                <a:ea typeface="Arial"/>
                <a:cs typeface="Arial"/>
                <a:sym typeface="Arial"/>
              </a:rPr>
              <a:t>The test plan makes the prototype a living information system, not a one-time demo.</a:t>
            </a:r>
            <a:endParaRPr b="0" i="0" sz="800" u="none" cap="none" strike="noStrike">
              <a:solidFill>
                <a:schemeClr val="dk1"/>
              </a:solidFill>
              <a:latin typeface="Arial"/>
              <a:ea typeface="Arial"/>
              <a:cs typeface="Arial"/>
              <a:sym typeface="Arial"/>
            </a:endParaRPr>
          </a:p>
        </p:txBody>
      </p:sp>
      <p:sp>
        <p:nvSpPr>
          <p:cNvPr id="293" name="Google Shape;293;p24"/>
          <p:cNvSpPr/>
          <p:nvPr/>
        </p:nvSpPr>
        <p:spPr>
          <a:xfrm>
            <a:off x="514364" y="1062990"/>
            <a:ext cx="2434655" cy="3051810"/>
          </a:xfrm>
          <a:prstGeom prst="roundRect">
            <a:avLst>
              <a:gd fmla="val 3099"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24"/>
          <p:cNvSpPr/>
          <p:nvPr/>
        </p:nvSpPr>
        <p:spPr>
          <a:xfrm>
            <a:off x="514364" y="1062990"/>
            <a:ext cx="2434655" cy="397764"/>
          </a:xfrm>
          <a:prstGeom prst="rect">
            <a:avLst/>
          </a:prstGeom>
          <a:solidFill>
            <a:srgbClr val="1F7A4D"/>
          </a:solidFill>
          <a:ln cap="flat" cmpd="sng" w="12700">
            <a:solidFill>
              <a:srgbClr val="1F7A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5" name="Google Shape;295;p24"/>
          <p:cNvSpPr/>
          <p:nvPr/>
        </p:nvSpPr>
        <p:spPr>
          <a:xfrm>
            <a:off x="665244" y="1186434"/>
            <a:ext cx="2057455"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Functional tests</a:t>
            </a:r>
            <a:endParaRPr b="0" i="0" sz="900" u="none" cap="none" strike="noStrike">
              <a:solidFill>
                <a:schemeClr val="dk1"/>
              </a:solidFill>
              <a:latin typeface="Arial"/>
              <a:ea typeface="Arial"/>
              <a:cs typeface="Arial"/>
              <a:sym typeface="Arial"/>
            </a:endParaRPr>
          </a:p>
        </p:txBody>
      </p:sp>
      <p:sp>
        <p:nvSpPr>
          <p:cNvPr id="296" name="Google Shape;296;p24"/>
          <p:cNvSpPr/>
          <p:nvPr/>
        </p:nvSpPr>
        <p:spPr>
          <a:xfrm>
            <a:off x="720109" y="1632204"/>
            <a:ext cx="1920291"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 QR resolves to correct endpoint</a:t>
            </a:r>
            <a:endParaRPr b="0" i="0" sz="800" u="none" cap="none" strike="noStrike">
              <a:solidFill>
                <a:schemeClr val="dk1"/>
              </a:solidFill>
              <a:latin typeface="Arial"/>
              <a:ea typeface="Arial"/>
              <a:cs typeface="Arial"/>
              <a:sym typeface="Arial"/>
            </a:endParaRPr>
          </a:p>
        </p:txBody>
      </p:sp>
      <p:sp>
        <p:nvSpPr>
          <p:cNvPr id="297" name="Google Shape;297;p24"/>
          <p:cNvSpPr/>
          <p:nvPr/>
        </p:nvSpPr>
        <p:spPr>
          <a:xfrm>
            <a:off x="720109" y="2146554"/>
            <a:ext cx="1920291"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 Schema validation for every JSON record</a:t>
            </a:r>
            <a:endParaRPr b="0" i="0" sz="800" u="none" cap="none" strike="noStrike">
              <a:solidFill>
                <a:schemeClr val="dk1"/>
              </a:solidFill>
              <a:latin typeface="Arial"/>
              <a:ea typeface="Arial"/>
              <a:cs typeface="Arial"/>
              <a:sym typeface="Arial"/>
            </a:endParaRPr>
          </a:p>
        </p:txBody>
      </p:sp>
      <p:sp>
        <p:nvSpPr>
          <p:cNvPr id="298" name="Google Shape;298;p24"/>
          <p:cNvSpPr/>
          <p:nvPr/>
        </p:nvSpPr>
        <p:spPr>
          <a:xfrm>
            <a:off x="720109" y="2660904"/>
            <a:ext cx="1920291"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 Recall sync updates recall_status</a:t>
            </a:r>
            <a:endParaRPr b="0" i="0" sz="800" u="none" cap="none" strike="noStrike">
              <a:solidFill>
                <a:schemeClr val="dk1"/>
              </a:solidFill>
              <a:latin typeface="Arial"/>
              <a:ea typeface="Arial"/>
              <a:cs typeface="Arial"/>
              <a:sym typeface="Arial"/>
            </a:endParaRPr>
          </a:p>
        </p:txBody>
      </p:sp>
      <p:sp>
        <p:nvSpPr>
          <p:cNvPr id="299" name="Google Shape;299;p24"/>
          <p:cNvSpPr/>
          <p:nvPr/>
        </p:nvSpPr>
        <p:spPr>
          <a:xfrm>
            <a:off x="720109" y="3175254"/>
            <a:ext cx="1920291"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 Consumer view hides backend audit fields</a:t>
            </a:r>
            <a:endParaRPr b="0" i="0" sz="800" u="none" cap="none" strike="noStrike">
              <a:solidFill>
                <a:schemeClr val="dk1"/>
              </a:solidFill>
              <a:latin typeface="Arial"/>
              <a:ea typeface="Arial"/>
              <a:cs typeface="Arial"/>
              <a:sym typeface="Arial"/>
            </a:endParaRPr>
          </a:p>
        </p:txBody>
      </p:sp>
      <p:sp>
        <p:nvSpPr>
          <p:cNvPr id="300" name="Google Shape;300;p24"/>
          <p:cNvSpPr/>
          <p:nvPr/>
        </p:nvSpPr>
        <p:spPr>
          <a:xfrm>
            <a:off x="3360510" y="1062990"/>
            <a:ext cx="2434655" cy="3051810"/>
          </a:xfrm>
          <a:prstGeom prst="roundRect">
            <a:avLst>
              <a:gd fmla="val 3099"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1" name="Google Shape;301;p24"/>
          <p:cNvSpPr/>
          <p:nvPr/>
        </p:nvSpPr>
        <p:spPr>
          <a:xfrm>
            <a:off x="3360510" y="1062990"/>
            <a:ext cx="2434655" cy="397764"/>
          </a:xfrm>
          <a:prstGeom prst="rect">
            <a:avLst/>
          </a:prstGeom>
          <a:solidFill>
            <a:srgbClr val="3B6FB6"/>
          </a:solidFill>
          <a:ln cap="flat" cmpd="sng" w="12700">
            <a:solidFill>
              <a:srgbClr val="3B6FB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2" name="Google Shape;302;p24"/>
          <p:cNvSpPr/>
          <p:nvPr/>
        </p:nvSpPr>
        <p:spPr>
          <a:xfrm>
            <a:off x="3511390" y="1186434"/>
            <a:ext cx="2057455"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Performance tests</a:t>
            </a:r>
            <a:endParaRPr b="0" i="0" sz="900" u="none" cap="none" strike="noStrike">
              <a:solidFill>
                <a:schemeClr val="dk1"/>
              </a:solidFill>
              <a:latin typeface="Arial"/>
              <a:ea typeface="Arial"/>
              <a:cs typeface="Arial"/>
              <a:sym typeface="Arial"/>
            </a:endParaRPr>
          </a:p>
        </p:txBody>
      </p:sp>
      <p:sp>
        <p:nvSpPr>
          <p:cNvPr id="303" name="Google Shape;303;p24"/>
          <p:cNvSpPr/>
          <p:nvPr/>
        </p:nvSpPr>
        <p:spPr>
          <a:xfrm>
            <a:off x="3566255" y="1632204"/>
            <a:ext cx="1920291"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 p95 API response target under 1 second for cached records</a:t>
            </a:r>
            <a:endParaRPr b="0" i="0" sz="800" u="none" cap="none" strike="noStrike">
              <a:solidFill>
                <a:schemeClr val="dk1"/>
              </a:solidFill>
              <a:latin typeface="Arial"/>
              <a:ea typeface="Arial"/>
              <a:cs typeface="Arial"/>
              <a:sym typeface="Arial"/>
            </a:endParaRPr>
          </a:p>
        </p:txBody>
      </p:sp>
      <p:sp>
        <p:nvSpPr>
          <p:cNvPr id="304" name="Google Shape;304;p24"/>
          <p:cNvSpPr/>
          <p:nvPr/>
        </p:nvSpPr>
        <p:spPr>
          <a:xfrm>
            <a:off x="3566255" y="2146554"/>
            <a:ext cx="1920291"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 Recall refresh job monitored for completion</a:t>
            </a:r>
            <a:endParaRPr b="0" i="0" sz="800" u="none" cap="none" strike="noStrike">
              <a:solidFill>
                <a:schemeClr val="dk1"/>
              </a:solidFill>
              <a:latin typeface="Arial"/>
              <a:ea typeface="Arial"/>
              <a:cs typeface="Arial"/>
              <a:sym typeface="Arial"/>
            </a:endParaRPr>
          </a:p>
        </p:txBody>
      </p:sp>
      <p:sp>
        <p:nvSpPr>
          <p:cNvPr id="305" name="Google Shape;305;p24"/>
          <p:cNvSpPr/>
          <p:nvPr/>
        </p:nvSpPr>
        <p:spPr>
          <a:xfrm>
            <a:off x="3566255" y="2660904"/>
            <a:ext cx="1920291"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 CSV / JSON export checked for row and field completeness</a:t>
            </a:r>
            <a:endParaRPr b="0" i="0" sz="800" u="none" cap="none" strike="noStrike">
              <a:solidFill>
                <a:schemeClr val="dk1"/>
              </a:solidFill>
              <a:latin typeface="Arial"/>
              <a:ea typeface="Arial"/>
              <a:cs typeface="Arial"/>
              <a:sym typeface="Arial"/>
            </a:endParaRPr>
          </a:p>
        </p:txBody>
      </p:sp>
      <p:sp>
        <p:nvSpPr>
          <p:cNvPr id="306" name="Google Shape;306;p24"/>
          <p:cNvSpPr/>
          <p:nvPr/>
        </p:nvSpPr>
        <p:spPr>
          <a:xfrm>
            <a:off x="6206655" y="1062990"/>
            <a:ext cx="2434655" cy="3051810"/>
          </a:xfrm>
          <a:prstGeom prst="roundRect">
            <a:avLst>
              <a:gd fmla="val 3099" name="adj"/>
            </a:avLst>
          </a:prstGeom>
          <a:solidFill>
            <a:srgbClr val="FFFFFF"/>
          </a:solidFill>
          <a:ln cap="flat" cmpd="sng" w="12700">
            <a:solidFill>
              <a:srgbClr val="D6E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7" name="Google Shape;307;p24"/>
          <p:cNvSpPr/>
          <p:nvPr/>
        </p:nvSpPr>
        <p:spPr>
          <a:xfrm>
            <a:off x="6206655" y="1062990"/>
            <a:ext cx="2434655" cy="397764"/>
          </a:xfrm>
          <a:prstGeom prst="rect">
            <a:avLst/>
          </a:prstGeom>
          <a:solidFill>
            <a:srgbClr val="E28B3B"/>
          </a:solidFill>
          <a:ln cap="flat" cmpd="sng" w="12700">
            <a:solidFill>
              <a:srgbClr val="E28B3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8" name="Google Shape;308;p24"/>
          <p:cNvSpPr/>
          <p:nvPr/>
        </p:nvSpPr>
        <p:spPr>
          <a:xfrm>
            <a:off x="6357535" y="1186434"/>
            <a:ext cx="2057455"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Alarms + actions</a:t>
            </a:r>
            <a:endParaRPr b="0" i="0" sz="900" u="none" cap="none" strike="noStrike">
              <a:solidFill>
                <a:schemeClr val="dk1"/>
              </a:solidFill>
              <a:latin typeface="Arial"/>
              <a:ea typeface="Arial"/>
              <a:cs typeface="Arial"/>
              <a:sym typeface="Arial"/>
            </a:endParaRPr>
          </a:p>
        </p:txBody>
      </p:sp>
      <p:sp>
        <p:nvSpPr>
          <p:cNvPr id="309" name="Google Shape;309;p24"/>
          <p:cNvSpPr/>
          <p:nvPr/>
        </p:nvSpPr>
        <p:spPr>
          <a:xfrm>
            <a:off x="6412401" y="1632204"/>
            <a:ext cx="1920291"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 5xx errors, stale last_recall_check, failed ETL job</a:t>
            </a:r>
            <a:endParaRPr b="0" i="0" sz="800" u="none" cap="none" strike="noStrike">
              <a:solidFill>
                <a:schemeClr val="dk1"/>
              </a:solidFill>
              <a:latin typeface="Arial"/>
              <a:ea typeface="Arial"/>
              <a:cs typeface="Arial"/>
              <a:sym typeface="Arial"/>
            </a:endParaRPr>
          </a:p>
        </p:txBody>
      </p:sp>
      <p:sp>
        <p:nvSpPr>
          <p:cNvPr id="310" name="Google Shape;310;p24"/>
          <p:cNvSpPr/>
          <p:nvPr/>
        </p:nvSpPr>
        <p:spPr>
          <a:xfrm>
            <a:off x="6412401" y="2146554"/>
            <a:ext cx="1920291"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 Unauthorized update attempts</a:t>
            </a:r>
            <a:endParaRPr b="0" i="0" sz="800" u="none" cap="none" strike="noStrike">
              <a:solidFill>
                <a:schemeClr val="dk1"/>
              </a:solidFill>
              <a:latin typeface="Arial"/>
              <a:ea typeface="Arial"/>
              <a:cs typeface="Arial"/>
              <a:sym typeface="Arial"/>
            </a:endParaRPr>
          </a:p>
        </p:txBody>
      </p:sp>
      <p:sp>
        <p:nvSpPr>
          <p:cNvPr id="311" name="Google Shape;311;p24"/>
          <p:cNvSpPr/>
          <p:nvPr/>
        </p:nvSpPr>
        <p:spPr>
          <a:xfrm>
            <a:off x="6412401" y="2660904"/>
            <a:ext cx="1920291"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800"/>
              <a:buFont typeface="Arial"/>
              <a:buNone/>
            </a:pPr>
            <a:r>
              <a:rPr b="0" i="0" lang="en" sz="800" u="none" cap="none" strike="noStrike">
                <a:solidFill>
                  <a:srgbClr val="173B2F"/>
                </a:solidFill>
                <a:latin typeface="Arial"/>
                <a:ea typeface="Arial"/>
                <a:cs typeface="Arial"/>
                <a:sym typeface="Arial"/>
              </a:rPr>
              <a:t>• Action: retry feed, rollback bad data, notify owner, document incident</a:t>
            </a:r>
            <a:endParaRPr b="0" i="0" sz="800" u="none" cap="none" strike="noStrike">
              <a:solidFill>
                <a:schemeClr val="dk1"/>
              </a:solidFill>
              <a:latin typeface="Arial"/>
              <a:ea typeface="Arial"/>
              <a:cs typeface="Arial"/>
              <a:sym typeface="Arial"/>
            </a:endParaRPr>
          </a:p>
        </p:txBody>
      </p:sp>
      <p:sp>
        <p:nvSpPr>
          <p:cNvPr id="312" name="Google Shape;312;p24"/>
          <p:cNvSpPr txBox="1"/>
          <p:nvPr>
            <p:ph idx="4294967295"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6A7A70"/>
                </a:solidFill>
                <a:latin typeface="Arial"/>
                <a:ea typeface="Arial"/>
                <a:cs typeface="Arial"/>
                <a:sym typeface="Arial"/>
              </a:rPr>
              <a:t>‹#›</a:t>
            </a:fld>
            <a:endParaRPr b="0" i="0" sz="600" u="none" cap="none" strike="noStrike">
              <a:solidFill>
                <a:srgbClr val="6A7A7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5"/>
          <p:cNvSpPr/>
          <p:nvPr/>
        </p:nvSpPr>
        <p:spPr>
          <a:xfrm>
            <a:off x="480073" y="288036"/>
            <a:ext cx="6240946"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900"/>
              <a:buFont typeface="Play"/>
              <a:buNone/>
            </a:pPr>
            <a:r>
              <a:rPr b="1" i="0" lang="en" sz="1900" u="none" cap="none" strike="noStrike">
                <a:solidFill>
                  <a:srgbClr val="173B2F"/>
                </a:solidFill>
                <a:latin typeface="Play"/>
                <a:ea typeface="Play"/>
                <a:cs typeface="Play"/>
                <a:sym typeface="Play"/>
              </a:rPr>
              <a:t>Outcome and GitHub deliverables</a:t>
            </a:r>
            <a:endParaRPr b="0" i="0" sz="1900" u="none" cap="none" strike="noStrike">
              <a:solidFill>
                <a:schemeClr val="dk1"/>
              </a:solidFill>
              <a:latin typeface="Arial"/>
              <a:ea typeface="Arial"/>
              <a:cs typeface="Arial"/>
              <a:sym typeface="Arial"/>
            </a:endParaRPr>
          </a:p>
        </p:txBody>
      </p:sp>
      <p:sp>
        <p:nvSpPr>
          <p:cNvPr id="319" name="Google Shape;319;p25"/>
          <p:cNvSpPr/>
          <p:nvPr/>
        </p:nvSpPr>
        <p:spPr>
          <a:xfrm>
            <a:off x="617236" y="1028700"/>
            <a:ext cx="2126037"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7A4D"/>
              </a:buClr>
              <a:buSzPts val="1400"/>
              <a:buFont typeface="Arial"/>
              <a:buNone/>
            </a:pPr>
            <a:r>
              <a:rPr b="1" i="0" lang="en" sz="1400" u="none" cap="none" strike="noStrike">
                <a:solidFill>
                  <a:srgbClr val="1F7A4D"/>
                </a:solidFill>
                <a:latin typeface="Arial"/>
                <a:ea typeface="Arial"/>
                <a:cs typeface="Arial"/>
                <a:sym typeface="Arial"/>
              </a:rPr>
              <a:t>Community outcome</a:t>
            </a:r>
            <a:endParaRPr b="0" i="0" sz="1400" u="none" cap="none" strike="noStrike">
              <a:solidFill>
                <a:schemeClr val="dk1"/>
              </a:solidFill>
              <a:latin typeface="Arial"/>
              <a:ea typeface="Arial"/>
              <a:cs typeface="Arial"/>
              <a:sym typeface="Arial"/>
            </a:endParaRPr>
          </a:p>
        </p:txBody>
      </p:sp>
      <p:sp>
        <p:nvSpPr>
          <p:cNvPr id="320" name="Google Shape;320;p25"/>
          <p:cNvSpPr/>
          <p:nvPr/>
        </p:nvSpPr>
        <p:spPr>
          <a:xfrm>
            <a:off x="630953" y="1371600"/>
            <a:ext cx="2811855"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000"/>
              <a:buFont typeface="Arial"/>
              <a:buNone/>
            </a:pPr>
            <a:r>
              <a:rPr b="0" i="0" lang="en" sz="1000" u="none" cap="none" strike="noStrike">
                <a:solidFill>
                  <a:srgbClr val="173B2F"/>
                </a:solidFill>
                <a:latin typeface="Arial"/>
                <a:ea typeface="Arial"/>
                <a:cs typeface="Arial"/>
                <a:sym typeface="Arial"/>
              </a:rPr>
              <a:t>Consumers gain faster safety insight; suppliers gain reusable batch records; regulators gain more traceable and standardized audit context.</a:t>
            </a:r>
            <a:endParaRPr b="0" i="0" sz="1000" u="none" cap="none" strike="noStrike">
              <a:solidFill>
                <a:schemeClr val="dk1"/>
              </a:solidFill>
              <a:latin typeface="Arial"/>
              <a:ea typeface="Arial"/>
              <a:cs typeface="Arial"/>
              <a:sym typeface="Arial"/>
            </a:endParaRPr>
          </a:p>
        </p:txBody>
      </p:sp>
      <p:sp>
        <p:nvSpPr>
          <p:cNvPr id="321" name="Google Shape;321;p25"/>
          <p:cNvSpPr/>
          <p:nvPr/>
        </p:nvSpPr>
        <p:spPr>
          <a:xfrm>
            <a:off x="4252073" y="1028700"/>
            <a:ext cx="2331782"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6FB6"/>
              </a:buClr>
              <a:buSzPts val="1400"/>
              <a:buFont typeface="Arial"/>
              <a:buNone/>
            </a:pPr>
            <a:r>
              <a:rPr b="1" i="0" lang="en" sz="1400" u="none" cap="none" strike="noStrike">
                <a:solidFill>
                  <a:srgbClr val="3B6FB6"/>
                </a:solidFill>
                <a:latin typeface="Arial"/>
                <a:ea typeface="Arial"/>
                <a:cs typeface="Arial"/>
                <a:sym typeface="Arial"/>
              </a:rPr>
              <a:t>Repository structure</a:t>
            </a:r>
            <a:endParaRPr b="0" i="0" sz="1400" u="none" cap="none" strike="noStrike">
              <a:solidFill>
                <a:schemeClr val="dk1"/>
              </a:solidFill>
              <a:latin typeface="Arial"/>
              <a:ea typeface="Arial"/>
              <a:cs typeface="Arial"/>
              <a:sym typeface="Arial"/>
            </a:endParaRPr>
          </a:p>
        </p:txBody>
      </p:sp>
      <p:sp>
        <p:nvSpPr>
          <p:cNvPr id="322" name="Google Shape;322;p25"/>
          <p:cNvSpPr/>
          <p:nvPr/>
        </p:nvSpPr>
        <p:spPr>
          <a:xfrm>
            <a:off x="4252073" y="1371600"/>
            <a:ext cx="356625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0" i="0" lang="en" sz="900" u="none" cap="none" strike="noStrike">
                <a:solidFill>
                  <a:srgbClr val="173B2F"/>
                </a:solidFill>
                <a:latin typeface="Arial"/>
                <a:ea typeface="Arial"/>
                <a:cs typeface="Arial"/>
                <a:sym typeface="Arial"/>
              </a:rPr>
              <a:t>• README.md - project story, methods, setup</a:t>
            </a:r>
            <a:endParaRPr b="0" i="0" sz="900" u="none" cap="none" strike="noStrike">
              <a:solidFill>
                <a:schemeClr val="dk1"/>
              </a:solidFill>
              <a:latin typeface="Arial"/>
              <a:ea typeface="Arial"/>
              <a:cs typeface="Arial"/>
              <a:sym typeface="Arial"/>
            </a:endParaRPr>
          </a:p>
        </p:txBody>
      </p:sp>
      <p:sp>
        <p:nvSpPr>
          <p:cNvPr id="323" name="Google Shape;323;p25"/>
          <p:cNvSpPr/>
          <p:nvPr/>
        </p:nvSpPr>
        <p:spPr>
          <a:xfrm>
            <a:off x="4252073" y="1700784"/>
            <a:ext cx="356625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0" i="0" lang="en" sz="900" u="none" cap="none" strike="noStrike">
                <a:solidFill>
                  <a:srgbClr val="173B2F"/>
                </a:solidFill>
                <a:latin typeface="Arial"/>
                <a:ea typeface="Arial"/>
                <a:cs typeface="Arial"/>
                <a:sym typeface="Arial"/>
              </a:rPr>
              <a:t>• /data - raw and transformed sample files</a:t>
            </a:r>
            <a:endParaRPr b="0" i="0" sz="900" u="none" cap="none" strike="noStrike">
              <a:solidFill>
                <a:schemeClr val="dk1"/>
              </a:solidFill>
              <a:latin typeface="Arial"/>
              <a:ea typeface="Arial"/>
              <a:cs typeface="Arial"/>
              <a:sym typeface="Arial"/>
            </a:endParaRPr>
          </a:p>
        </p:txBody>
      </p:sp>
      <p:sp>
        <p:nvSpPr>
          <p:cNvPr id="324" name="Google Shape;324;p25"/>
          <p:cNvSpPr/>
          <p:nvPr/>
        </p:nvSpPr>
        <p:spPr>
          <a:xfrm>
            <a:off x="4252073" y="2029968"/>
            <a:ext cx="356625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0" i="0" lang="en" sz="900" u="none" cap="none" strike="noStrike">
                <a:solidFill>
                  <a:srgbClr val="173B2F"/>
                </a:solidFill>
                <a:latin typeface="Arial"/>
                <a:ea typeface="Arial"/>
                <a:cs typeface="Arial"/>
                <a:sym typeface="Arial"/>
              </a:rPr>
              <a:t>• /src - ETL and API prototype code</a:t>
            </a:r>
            <a:endParaRPr b="0" i="0" sz="900" u="none" cap="none" strike="noStrike">
              <a:solidFill>
                <a:schemeClr val="dk1"/>
              </a:solidFill>
              <a:latin typeface="Arial"/>
              <a:ea typeface="Arial"/>
              <a:cs typeface="Arial"/>
              <a:sym typeface="Arial"/>
            </a:endParaRPr>
          </a:p>
        </p:txBody>
      </p:sp>
      <p:sp>
        <p:nvSpPr>
          <p:cNvPr id="325" name="Google Shape;325;p25"/>
          <p:cNvSpPr/>
          <p:nvPr/>
        </p:nvSpPr>
        <p:spPr>
          <a:xfrm>
            <a:off x="4252073" y="2359152"/>
            <a:ext cx="356625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0" i="0" lang="en" sz="900" u="none" cap="none" strike="noStrike">
                <a:solidFill>
                  <a:srgbClr val="173B2F"/>
                </a:solidFill>
                <a:latin typeface="Arial"/>
                <a:ea typeface="Arial"/>
                <a:cs typeface="Arial"/>
                <a:sym typeface="Arial"/>
              </a:rPr>
              <a:t>• /docs - FAIR, portability, deficiencies, test plan</a:t>
            </a:r>
            <a:endParaRPr b="0" i="0" sz="900" u="none" cap="none" strike="noStrike">
              <a:solidFill>
                <a:schemeClr val="dk1"/>
              </a:solidFill>
              <a:latin typeface="Arial"/>
              <a:ea typeface="Arial"/>
              <a:cs typeface="Arial"/>
              <a:sym typeface="Arial"/>
            </a:endParaRPr>
          </a:p>
        </p:txBody>
      </p:sp>
      <p:sp>
        <p:nvSpPr>
          <p:cNvPr id="326" name="Google Shape;326;p25"/>
          <p:cNvSpPr/>
          <p:nvPr/>
        </p:nvSpPr>
        <p:spPr>
          <a:xfrm>
            <a:off x="4252073" y="2688336"/>
            <a:ext cx="3566255"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0" i="0" lang="en" sz="900" u="none" cap="none" strike="noStrike">
                <a:solidFill>
                  <a:srgbClr val="173B2F"/>
                </a:solidFill>
                <a:latin typeface="Arial"/>
                <a:ea typeface="Arial"/>
                <a:cs typeface="Arial"/>
                <a:sym typeface="Arial"/>
              </a:rPr>
              <a:t>• /presentation - final PPTX</a:t>
            </a:r>
            <a:endParaRPr b="0" i="0" sz="900" u="none" cap="none" strike="noStrike">
              <a:solidFill>
                <a:schemeClr val="dk1"/>
              </a:solidFill>
              <a:latin typeface="Arial"/>
              <a:ea typeface="Arial"/>
              <a:cs typeface="Arial"/>
              <a:sym typeface="Arial"/>
            </a:endParaRPr>
          </a:p>
        </p:txBody>
      </p:sp>
      <p:sp>
        <p:nvSpPr>
          <p:cNvPr id="327" name="Google Shape;327;p25"/>
          <p:cNvSpPr/>
          <p:nvPr/>
        </p:nvSpPr>
        <p:spPr>
          <a:xfrm>
            <a:off x="617236" y="3442716"/>
            <a:ext cx="7475419" cy="493776"/>
          </a:xfrm>
          <a:prstGeom prst="roundRect">
            <a:avLst>
              <a:gd fmla="val 16667" name="adj"/>
            </a:avLst>
          </a:prstGeom>
          <a:solidFill>
            <a:srgbClr val="DFF1E5"/>
          </a:solidFill>
          <a:ln cap="flat" cmpd="sng" w="12700">
            <a:solidFill>
              <a:srgbClr val="DFF1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8" name="Google Shape;328;p25"/>
          <p:cNvSpPr/>
          <p:nvPr/>
        </p:nvSpPr>
        <p:spPr>
          <a:xfrm>
            <a:off x="788691" y="3600450"/>
            <a:ext cx="11316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100"/>
              <a:buFont typeface="Arial"/>
              <a:buNone/>
            </a:pPr>
            <a:r>
              <a:rPr b="1" i="0" lang="en" sz="1100" u="none" cap="none" strike="noStrike">
                <a:solidFill>
                  <a:srgbClr val="173B2F"/>
                </a:solidFill>
                <a:latin typeface="Arial"/>
                <a:ea typeface="Arial"/>
                <a:cs typeface="Arial"/>
                <a:sym typeface="Arial"/>
              </a:rPr>
              <a:t>Main takeaway</a:t>
            </a:r>
            <a:endParaRPr b="0" i="0" sz="1100" u="none" cap="none" strike="noStrike">
              <a:solidFill>
                <a:schemeClr val="dk1"/>
              </a:solidFill>
              <a:latin typeface="Arial"/>
              <a:ea typeface="Arial"/>
              <a:cs typeface="Arial"/>
              <a:sym typeface="Arial"/>
            </a:endParaRPr>
          </a:p>
        </p:txBody>
      </p:sp>
      <p:sp>
        <p:nvSpPr>
          <p:cNvPr id="329" name="Google Shape;329;p25"/>
          <p:cNvSpPr/>
          <p:nvPr/>
        </p:nvSpPr>
        <p:spPr>
          <a:xfrm>
            <a:off x="2366073" y="3552444"/>
            <a:ext cx="524651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900"/>
              <a:buFont typeface="Arial"/>
              <a:buNone/>
            </a:pPr>
            <a:r>
              <a:rPr b="0" i="0" lang="en" sz="900" u="none" cap="none" strike="noStrike">
                <a:solidFill>
                  <a:srgbClr val="173B2F"/>
                </a:solidFill>
                <a:latin typeface="Arial"/>
                <a:ea typeface="Arial"/>
                <a:cs typeface="Arial"/>
                <a:sym typeface="Arial"/>
              </a:rPr>
              <a:t>Portability improves when food safety information uses stable IDs, interoperable JSON fields, access views, and quality controls.</a:t>
            </a:r>
            <a:endParaRPr b="0" i="0" sz="900" u="none" cap="none" strike="noStrike">
              <a:solidFill>
                <a:schemeClr val="dk1"/>
              </a:solidFill>
              <a:latin typeface="Arial"/>
              <a:ea typeface="Arial"/>
              <a:cs typeface="Arial"/>
              <a:sym typeface="Arial"/>
            </a:endParaRPr>
          </a:p>
        </p:txBody>
      </p:sp>
      <p:sp>
        <p:nvSpPr>
          <p:cNvPr id="330" name="Google Shape;330;p25"/>
          <p:cNvSpPr/>
          <p:nvPr/>
        </p:nvSpPr>
        <p:spPr>
          <a:xfrm>
            <a:off x="617236" y="4203954"/>
            <a:ext cx="1440218"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B2F"/>
              </a:buClr>
              <a:buSzPts val="1800"/>
              <a:buFont typeface="Arial"/>
              <a:buNone/>
            </a:pPr>
            <a:r>
              <a:rPr b="1" i="0" lang="en" sz="1800" u="none" cap="none" strike="noStrike">
                <a:solidFill>
                  <a:srgbClr val="173B2F"/>
                </a:solidFill>
                <a:latin typeface="Arial"/>
                <a:ea typeface="Arial"/>
                <a:cs typeface="Arial"/>
                <a:sym typeface="Arial"/>
              </a:rPr>
              <a:t>Questions</a:t>
            </a:r>
            <a:endParaRPr b="0" i="0" sz="1800" u="none" cap="none" strike="noStrike">
              <a:solidFill>
                <a:schemeClr val="dk1"/>
              </a:solidFill>
              <a:latin typeface="Arial"/>
              <a:ea typeface="Arial"/>
              <a:cs typeface="Arial"/>
              <a:sym typeface="Arial"/>
            </a:endParaRPr>
          </a:p>
        </p:txBody>
      </p:sp>
      <p:sp>
        <p:nvSpPr>
          <p:cNvPr id="331" name="Google Shape;331;p25"/>
          <p:cNvSpPr txBox="1"/>
          <p:nvPr>
            <p:ph idx="4294967295" type="sldNum"/>
          </p:nvPr>
        </p:nvSpPr>
        <p:spPr>
          <a:xfrm>
            <a:off x="8607019" y="4910328"/>
            <a:ext cx="600016"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6A7A70"/>
                </a:solidFill>
                <a:latin typeface="Arial"/>
                <a:ea typeface="Arial"/>
                <a:cs typeface="Arial"/>
                <a:sym typeface="Arial"/>
              </a:rPr>
              <a:t>‹#›</a:t>
            </a:fld>
            <a:endParaRPr b="0" i="0" sz="600" u="none" cap="none" strike="noStrike">
              <a:solidFill>
                <a:srgbClr val="6A7A7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